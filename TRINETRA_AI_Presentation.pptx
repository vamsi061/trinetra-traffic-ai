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Relationship Id="rId20" Type="http://schemas.openxmlformats.org/officeDocument/2006/relationships/slide" Target="slides/slide14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D1225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914400" y="1371600"/>
            <a:ext cx="1005840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5600" b="1">
                <a:solidFill>
                  <a:srgbClr val="C0392B"/>
                </a:solidFill>
              </a:defRPr>
            </a:pPr>
            <a:r>
              <a:t>TRINETRA AI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914400" y="2560320"/>
            <a:ext cx="100584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600" b="0">
                <a:solidFill>
                  <a:srgbClr val="FFFFFF"/>
                </a:solidFill>
              </a:defRPr>
            </a:pPr>
            <a:r>
              <a:t>Transforming Traffic Images into Actionable Enforcement Intelligence</a:t>
            </a:r>
          </a:p>
        </p:txBody>
      </p:sp>
      <p:sp>
        <p:nvSpPr>
          <p:cNvPr id="4" name="Rectangle 3"/>
          <p:cNvSpPr/>
          <p:nvPr/>
        </p:nvSpPr>
        <p:spPr>
          <a:xfrm>
            <a:off x="914400" y="3474720"/>
            <a:ext cx="2743200" cy="54864"/>
          </a:xfrm>
          <a:prstGeom prst="rect">
            <a:avLst/>
          </a:prstGeom>
          <a:solidFill>
            <a:srgbClr val="C0392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914400" y="3840480"/>
            <a:ext cx="100584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 b="0">
                <a:solidFill>
                  <a:srgbClr val="9CA3AF"/>
                </a:solidFill>
              </a:defRPr>
            </a:pPr>
            <a:r>
              <a:t>AI-Powered Traffic Enforcement Intelligence Platform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914400" y="4572000"/>
            <a:ext cx="100584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0">
                <a:solidFill>
                  <a:srgbClr val="9CA3AF"/>
                </a:solidFill>
              </a:defRPr>
            </a:pPr>
            <a:r>
              <a:t>Bengaluru Traffic Police</a:t>
            </a:r>
          </a:p>
        </p:txBody>
      </p:sp>
      <p:sp>
        <p:nvSpPr>
          <p:cNvPr id="7" name="Rectangle 6"/>
          <p:cNvSpPr/>
          <p:nvPr/>
        </p:nvSpPr>
        <p:spPr>
          <a:xfrm>
            <a:off x="9144000" y="5943600"/>
            <a:ext cx="2743200" cy="36576"/>
          </a:xfrm>
          <a:prstGeom prst="rect">
            <a:avLst/>
          </a:prstGeom>
          <a:solidFill>
            <a:srgbClr val="C0392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9144000" y="6126480"/>
            <a:ext cx="27432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000" b="0">
                <a:solidFill>
                  <a:srgbClr val="9CA3AF"/>
                </a:solidFill>
              </a:defRPr>
            </a:pPr>
            <a:r>
              <a:t>v3.0.0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D1225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37160" cy="6858000"/>
          </a:xfrm>
          <a:prstGeom prst="rect">
            <a:avLst/>
          </a:prstGeom>
          <a:solidFill>
            <a:srgbClr val="C0392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36576"/>
          </a:xfrm>
          <a:prstGeom prst="rect">
            <a:avLst/>
          </a:prstGeom>
          <a:solidFill>
            <a:srgbClr val="C0392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914400" y="1097280"/>
            <a:ext cx="100584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600" b="1">
                <a:solidFill>
                  <a:srgbClr val="FFFFFF"/>
                </a:solidFill>
              </a:defRPr>
            </a:pPr>
            <a:r>
              <a:t>The Problem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1828800"/>
            <a:ext cx="10515600" cy="4114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  <a:defRPr sz="1600">
                <a:solidFill>
                  <a:srgbClr val="9CA3AF"/>
                </a:solidFill>
              </a:defRPr>
            </a:pPr>
            <a:r>
              <a:t>Bengaluru — millions of daily commuters, complex urban road network</a:t>
            </a:r>
          </a:p>
          <a:p>
            <a:pPr>
              <a:spcAft>
                <a:spcPts val="600"/>
              </a:spcAft>
              <a:defRPr sz="1600">
                <a:solidFill>
                  <a:srgbClr val="9CA3AF"/>
                </a:solidFill>
              </a:defRPr>
            </a:pPr>
            <a:r>
              <a:t>Traffic personnel manually inspect thousands of images and video feeds</a:t>
            </a:r>
          </a:p>
          <a:p>
            <a:pPr>
              <a:spcAft>
                <a:spcPts val="600"/>
              </a:spcAft>
              <a:defRPr sz="1600">
                <a:solidFill>
                  <a:srgbClr val="9CA3AF"/>
                </a:solidFill>
              </a:defRPr>
            </a:pPr>
            <a:r>
              <a:t>Violations must be identified, assessed, and prioritized — manually</a:t>
            </a:r>
          </a:p>
          <a:p>
            <a:pPr>
              <a:spcAft>
                <a:spcPts val="600"/>
              </a:spcAft>
              <a:defRPr sz="1600">
                <a:solidFill>
                  <a:srgbClr val="9CA3AF"/>
                </a:solidFill>
              </a:defRPr>
            </a:pPr>
            <a:r>
              <a:t>This process is: time-consuming, resource-intensive, difficult to scale</a:t>
            </a:r>
          </a:p>
          <a:p>
            <a:pPr>
              <a:spcAft>
                <a:spcPts val="600"/>
              </a:spcAft>
              <a:defRPr sz="1600">
                <a:solidFill>
                  <a:srgbClr val="9CA3AF"/>
                </a:solidFill>
              </a:defRPr>
            </a:pPr>
            <a:r>
              <a:t>Manual monitoring alone cannot provide smart-city responsiveness</a:t>
            </a:r>
          </a:p>
          <a:p>
            <a:pPr>
              <a:spcAft>
                <a:spcPts val="600"/>
              </a:spcAft>
              <a:defRPr sz="1600">
                <a:solidFill>
                  <a:srgbClr val="9CA3AF"/>
                </a:solidFill>
              </a:defRPr>
            </a:pPr>
            <a:r>
              <a:t>As traffic volume grows, the gap between capacity and demand widens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D1225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37160" cy="6858000"/>
          </a:xfrm>
          <a:prstGeom prst="rect">
            <a:avLst/>
          </a:prstGeom>
          <a:solidFill>
            <a:srgbClr val="C0392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36576"/>
          </a:xfrm>
          <a:prstGeom prst="rect">
            <a:avLst/>
          </a:prstGeom>
          <a:solidFill>
            <a:srgbClr val="C0392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914400" y="1097280"/>
            <a:ext cx="100584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600" b="1">
                <a:solidFill>
                  <a:srgbClr val="FFFFFF"/>
                </a:solidFill>
              </a:defRPr>
            </a:pPr>
            <a:r>
              <a:t>Our Vision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14400" y="2194560"/>
            <a:ext cx="100584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200" b="0">
                <a:solidFill>
                  <a:srgbClr val="FFFFFF"/>
                </a:solidFill>
              </a:defRPr>
            </a:pPr>
            <a:r>
              <a:t>What if every traffic image could become an actionable intelligence report?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914400" y="3108960"/>
            <a:ext cx="10058400" cy="1828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0">
                <a:solidFill>
                  <a:srgbClr val="9CA3AF"/>
                </a:solidFill>
              </a:defRPr>
            </a:pPr>
            <a:r>
              <a:t>Instead of merely detecting vehicles, we envisioned a system capable of understanding traffic scenes, identifying potential risks, generating evidence, and supporting informed decision-making.</a:t>
            </a:r>
            <a:br/>
            <a:br/>
            <a:r>
              <a:t>This vision led to the development of TRINETRA AI — built for Bengaluru Traffic Police.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D1225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37160" cy="6858000"/>
          </a:xfrm>
          <a:prstGeom prst="rect">
            <a:avLst/>
          </a:prstGeom>
          <a:solidFill>
            <a:srgbClr val="C0392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36576"/>
          </a:xfrm>
          <a:prstGeom prst="rect">
            <a:avLst/>
          </a:prstGeom>
          <a:solidFill>
            <a:srgbClr val="C0392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914400" y="1097280"/>
            <a:ext cx="100584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600" b="1">
                <a:solidFill>
                  <a:srgbClr val="FFFFFF"/>
                </a:solidFill>
              </a:defRPr>
            </a:pPr>
            <a:r>
              <a:t>What is TRINETRA AI?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14400" y="2011680"/>
            <a:ext cx="100584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000" b="0">
                <a:solidFill>
                  <a:srgbClr val="FFFFFF"/>
                </a:solidFill>
              </a:defRPr>
            </a:pPr>
            <a:r>
              <a:t>An AI-powered Traffic Enforcement Intelligence Platform for city-scale operations.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31520" y="2743200"/>
            <a:ext cx="10515600" cy="4114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  <a:defRPr sz="1600">
                <a:solidFill>
                  <a:srgbClr val="9CA3AF"/>
                </a:solidFill>
              </a:defRPr>
            </a:pPr>
            <a:r>
              <a:t>Computer Vision — YOLOv8s vehicle &amp; road user detection</a:t>
            </a:r>
          </a:p>
          <a:p>
            <a:pPr>
              <a:spcAft>
                <a:spcPts val="600"/>
              </a:spcAft>
              <a:defRPr sz="1600">
                <a:solidFill>
                  <a:srgbClr val="9CA3AF"/>
                </a:solidFill>
              </a:defRPr>
            </a:pPr>
            <a:r>
              <a:t>Explainable AI — every detection includes a confidence score and reason</a:t>
            </a:r>
          </a:p>
          <a:p>
            <a:pPr>
              <a:spcAft>
                <a:spcPts val="600"/>
              </a:spcAft>
              <a:defRPr sz="1600">
                <a:solidFill>
                  <a:srgbClr val="9CA3AF"/>
                </a:solidFill>
              </a:defRPr>
            </a:pPr>
            <a:r>
              <a:t>Risk Assessment — severity scoring with officer priority levels</a:t>
            </a:r>
          </a:p>
          <a:p>
            <a:pPr>
              <a:spcAft>
                <a:spcPts val="600"/>
              </a:spcAft>
              <a:defRPr sz="1600">
                <a:solidFill>
                  <a:srgbClr val="9CA3AF"/>
                </a:solidFill>
              </a:defRPr>
            </a:pPr>
            <a:r>
              <a:t>Evidence Generation — annotated images, PDF reports</a:t>
            </a:r>
          </a:p>
          <a:p>
            <a:pPr>
              <a:spcAft>
                <a:spcPts val="600"/>
              </a:spcAft>
              <a:defRPr sz="1600">
                <a:solidFill>
                  <a:srgbClr val="9CA3AF"/>
                </a:solidFill>
              </a:defRPr>
            </a:pPr>
            <a:r>
              <a:t>Human Review Workflow — auto-confirmed, review recommended, manual verification</a:t>
            </a:r>
          </a:p>
          <a:p>
            <a:pPr>
              <a:spcAft>
                <a:spcPts val="600"/>
              </a:spcAft>
              <a:defRPr sz="1600">
                <a:solidFill>
                  <a:srgbClr val="9CA3AF"/>
                </a:solidFill>
              </a:defRPr>
            </a:pPr>
            <a:r>
              <a:t>Traffic Intelligence Analytics — hotspots, repeat offenders, trends, forecasts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D1225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37160" cy="6858000"/>
          </a:xfrm>
          <a:prstGeom prst="rect">
            <a:avLst/>
          </a:prstGeom>
          <a:solidFill>
            <a:srgbClr val="C0392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36576"/>
          </a:xfrm>
          <a:prstGeom prst="rect">
            <a:avLst/>
          </a:prstGeom>
          <a:solidFill>
            <a:srgbClr val="C0392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914400" y="1097280"/>
            <a:ext cx="100584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600" b="1">
                <a:solidFill>
                  <a:srgbClr val="FFFFFF"/>
                </a:solidFill>
              </a:defRPr>
            </a:pPr>
            <a:r>
              <a:t>How It Works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731520" y="2194560"/>
            <a:ext cx="2103120" cy="594360"/>
          </a:xfrm>
          <a:prstGeom prst="roundRect">
            <a:avLst/>
          </a:prstGeom>
          <a:solidFill>
            <a:srgbClr val="1A2040"/>
          </a:solidFill>
          <a:ln w="12700">
            <a:solidFill>
              <a:srgbClr val="C0392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spcBef>
                <a:spcPts val="800"/>
              </a:spcBef>
              <a:defRPr sz="1100">
                <a:solidFill>
                  <a:srgbClr val="FFFFFF"/>
                </a:solidFill>
              </a:defRPr>
            </a:pPr>
            <a:r>
              <a:t>1. Traffic Camera Image</a:t>
            </a:r>
          </a:p>
        </p:txBody>
      </p:sp>
      <p:sp>
        <p:nvSpPr>
          <p:cNvPr id="6" name="Down Arrow 5"/>
          <p:cNvSpPr/>
          <p:nvPr/>
        </p:nvSpPr>
        <p:spPr>
          <a:xfrm>
            <a:off x="1645920" y="2807208"/>
            <a:ext cx="274320" cy="182880"/>
          </a:xfrm>
          <a:prstGeom prst="downArrow">
            <a:avLst/>
          </a:prstGeom>
          <a:solidFill>
            <a:srgbClr val="C0392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ounded Rectangle 6"/>
          <p:cNvSpPr/>
          <p:nvPr/>
        </p:nvSpPr>
        <p:spPr>
          <a:xfrm>
            <a:off x="4343400" y="2194560"/>
            <a:ext cx="2103120" cy="594360"/>
          </a:xfrm>
          <a:prstGeom prst="roundRect">
            <a:avLst/>
          </a:prstGeom>
          <a:solidFill>
            <a:srgbClr val="1A2040"/>
          </a:solidFill>
          <a:ln w="12700">
            <a:solidFill>
              <a:srgbClr val="C0392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spcBef>
                <a:spcPts val="800"/>
              </a:spcBef>
              <a:defRPr sz="1100">
                <a:solidFill>
                  <a:srgbClr val="FFFFFF"/>
                </a:solidFill>
              </a:defRPr>
            </a:pPr>
            <a:r>
              <a:t>2. Image Enhancement &amp; Quality Assessment</a:t>
            </a:r>
          </a:p>
        </p:txBody>
      </p:sp>
      <p:sp>
        <p:nvSpPr>
          <p:cNvPr id="8" name="Down Arrow 7"/>
          <p:cNvSpPr/>
          <p:nvPr/>
        </p:nvSpPr>
        <p:spPr>
          <a:xfrm>
            <a:off x="5257800" y="2807208"/>
            <a:ext cx="274320" cy="182880"/>
          </a:xfrm>
          <a:prstGeom prst="downArrow">
            <a:avLst/>
          </a:prstGeom>
          <a:solidFill>
            <a:srgbClr val="C0392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ounded Rectangle 8"/>
          <p:cNvSpPr/>
          <p:nvPr/>
        </p:nvSpPr>
        <p:spPr>
          <a:xfrm>
            <a:off x="731520" y="3017520"/>
            <a:ext cx="2103120" cy="594360"/>
          </a:xfrm>
          <a:prstGeom prst="roundRect">
            <a:avLst/>
          </a:prstGeom>
          <a:solidFill>
            <a:srgbClr val="1A2040"/>
          </a:solidFill>
          <a:ln w="12700">
            <a:solidFill>
              <a:srgbClr val="C0392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spcBef>
                <a:spcPts val="800"/>
              </a:spcBef>
              <a:defRPr sz="1100">
                <a:solidFill>
                  <a:srgbClr val="FFFFFF"/>
                </a:solidFill>
              </a:defRPr>
            </a:pPr>
            <a:r>
              <a:t>3. Vehicle &amp; Road User Detection</a:t>
            </a:r>
          </a:p>
        </p:txBody>
      </p:sp>
      <p:sp>
        <p:nvSpPr>
          <p:cNvPr id="10" name="Down Arrow 9"/>
          <p:cNvSpPr/>
          <p:nvPr/>
        </p:nvSpPr>
        <p:spPr>
          <a:xfrm>
            <a:off x="1645920" y="3630168"/>
            <a:ext cx="274320" cy="182880"/>
          </a:xfrm>
          <a:prstGeom prst="downArrow">
            <a:avLst/>
          </a:prstGeom>
          <a:solidFill>
            <a:srgbClr val="C0392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ounded Rectangle 10"/>
          <p:cNvSpPr/>
          <p:nvPr/>
        </p:nvSpPr>
        <p:spPr>
          <a:xfrm>
            <a:off x="4343400" y="3017520"/>
            <a:ext cx="2103120" cy="594360"/>
          </a:xfrm>
          <a:prstGeom prst="roundRect">
            <a:avLst/>
          </a:prstGeom>
          <a:solidFill>
            <a:srgbClr val="1A2040"/>
          </a:solidFill>
          <a:ln w="12700">
            <a:solidFill>
              <a:srgbClr val="C0392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spcBef>
                <a:spcPts val="800"/>
              </a:spcBef>
              <a:defRPr sz="1100">
                <a:solidFill>
                  <a:srgbClr val="FFFFFF"/>
                </a:solidFill>
              </a:defRPr>
            </a:pPr>
            <a:r>
              <a:t>4. Helmet &amp; Occupancy Analysis</a:t>
            </a:r>
          </a:p>
        </p:txBody>
      </p:sp>
      <p:sp>
        <p:nvSpPr>
          <p:cNvPr id="12" name="Down Arrow 11"/>
          <p:cNvSpPr/>
          <p:nvPr/>
        </p:nvSpPr>
        <p:spPr>
          <a:xfrm>
            <a:off x="5257800" y="3630168"/>
            <a:ext cx="274320" cy="182880"/>
          </a:xfrm>
          <a:prstGeom prst="downArrow">
            <a:avLst/>
          </a:prstGeom>
          <a:solidFill>
            <a:srgbClr val="C0392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ounded Rectangle 12"/>
          <p:cNvSpPr/>
          <p:nvPr/>
        </p:nvSpPr>
        <p:spPr>
          <a:xfrm>
            <a:off x="731520" y="3840480"/>
            <a:ext cx="2103120" cy="594360"/>
          </a:xfrm>
          <a:prstGeom prst="roundRect">
            <a:avLst/>
          </a:prstGeom>
          <a:solidFill>
            <a:srgbClr val="1A2040"/>
          </a:solidFill>
          <a:ln w="12700">
            <a:solidFill>
              <a:srgbClr val="C0392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spcBef>
                <a:spcPts val="800"/>
              </a:spcBef>
              <a:defRPr sz="1100">
                <a:solidFill>
                  <a:srgbClr val="FFFFFF"/>
                </a:solidFill>
              </a:defRPr>
            </a:pPr>
            <a:r>
              <a:t>5. Violation Identification</a:t>
            </a:r>
          </a:p>
        </p:txBody>
      </p:sp>
      <p:sp>
        <p:nvSpPr>
          <p:cNvPr id="14" name="Down Arrow 13"/>
          <p:cNvSpPr/>
          <p:nvPr/>
        </p:nvSpPr>
        <p:spPr>
          <a:xfrm>
            <a:off x="1645920" y="4453128"/>
            <a:ext cx="274320" cy="182880"/>
          </a:xfrm>
          <a:prstGeom prst="downArrow">
            <a:avLst/>
          </a:prstGeom>
          <a:solidFill>
            <a:srgbClr val="C0392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ounded Rectangle 14"/>
          <p:cNvSpPr/>
          <p:nvPr/>
        </p:nvSpPr>
        <p:spPr>
          <a:xfrm>
            <a:off x="4343400" y="3840480"/>
            <a:ext cx="2103120" cy="594360"/>
          </a:xfrm>
          <a:prstGeom prst="roundRect">
            <a:avLst/>
          </a:prstGeom>
          <a:solidFill>
            <a:srgbClr val="1A2040"/>
          </a:solidFill>
          <a:ln w="12700">
            <a:solidFill>
              <a:srgbClr val="C0392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spcBef>
                <a:spcPts val="800"/>
              </a:spcBef>
              <a:defRPr sz="1100">
                <a:solidFill>
                  <a:srgbClr val="FFFFFF"/>
                </a:solidFill>
              </a:defRPr>
            </a:pPr>
            <a:r>
              <a:t>6. License Plate Recognition</a:t>
            </a:r>
          </a:p>
        </p:txBody>
      </p:sp>
      <p:sp>
        <p:nvSpPr>
          <p:cNvPr id="16" name="Down Arrow 15"/>
          <p:cNvSpPr/>
          <p:nvPr/>
        </p:nvSpPr>
        <p:spPr>
          <a:xfrm>
            <a:off x="5257800" y="4453128"/>
            <a:ext cx="274320" cy="182880"/>
          </a:xfrm>
          <a:prstGeom prst="downArrow">
            <a:avLst/>
          </a:prstGeom>
          <a:solidFill>
            <a:srgbClr val="C0392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ounded Rectangle 16"/>
          <p:cNvSpPr/>
          <p:nvPr/>
        </p:nvSpPr>
        <p:spPr>
          <a:xfrm>
            <a:off x="731520" y="4663440"/>
            <a:ext cx="2103120" cy="594360"/>
          </a:xfrm>
          <a:prstGeom prst="roundRect">
            <a:avLst/>
          </a:prstGeom>
          <a:solidFill>
            <a:srgbClr val="1A2040"/>
          </a:solidFill>
          <a:ln w="12700">
            <a:solidFill>
              <a:srgbClr val="C0392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spcBef>
                <a:spcPts val="800"/>
              </a:spcBef>
              <a:defRPr sz="1100">
                <a:solidFill>
                  <a:srgbClr val="FFFFFF"/>
                </a:solidFill>
              </a:defRPr>
            </a:pPr>
            <a:r>
              <a:t>7. Risk Assessment</a:t>
            </a:r>
          </a:p>
        </p:txBody>
      </p:sp>
      <p:sp>
        <p:nvSpPr>
          <p:cNvPr id="18" name="Down Arrow 17"/>
          <p:cNvSpPr/>
          <p:nvPr/>
        </p:nvSpPr>
        <p:spPr>
          <a:xfrm>
            <a:off x="1645920" y="5276088"/>
            <a:ext cx="274320" cy="182880"/>
          </a:xfrm>
          <a:prstGeom prst="downArrow">
            <a:avLst/>
          </a:prstGeom>
          <a:solidFill>
            <a:srgbClr val="C0392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ounded Rectangle 18"/>
          <p:cNvSpPr/>
          <p:nvPr/>
        </p:nvSpPr>
        <p:spPr>
          <a:xfrm>
            <a:off x="4343400" y="4663440"/>
            <a:ext cx="2103120" cy="594360"/>
          </a:xfrm>
          <a:prstGeom prst="roundRect">
            <a:avLst/>
          </a:prstGeom>
          <a:solidFill>
            <a:srgbClr val="1A2040"/>
          </a:solidFill>
          <a:ln w="12700">
            <a:solidFill>
              <a:srgbClr val="C0392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spcBef>
                <a:spcPts val="800"/>
              </a:spcBef>
              <a:defRPr sz="1100">
                <a:solidFill>
                  <a:srgbClr val="FFFFFF"/>
                </a:solidFill>
              </a:defRPr>
            </a:pPr>
            <a:r>
              <a:t>8. Evidence Generation</a:t>
            </a:r>
          </a:p>
        </p:txBody>
      </p:sp>
      <p:sp>
        <p:nvSpPr>
          <p:cNvPr id="20" name="Down Arrow 19"/>
          <p:cNvSpPr/>
          <p:nvPr/>
        </p:nvSpPr>
        <p:spPr>
          <a:xfrm>
            <a:off x="5257800" y="5276088"/>
            <a:ext cx="274320" cy="182880"/>
          </a:xfrm>
          <a:prstGeom prst="downArrow">
            <a:avLst/>
          </a:prstGeom>
          <a:solidFill>
            <a:srgbClr val="C0392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Rounded Rectangle 20"/>
          <p:cNvSpPr/>
          <p:nvPr/>
        </p:nvSpPr>
        <p:spPr>
          <a:xfrm>
            <a:off x="731520" y="5486400"/>
            <a:ext cx="2103120" cy="594360"/>
          </a:xfrm>
          <a:prstGeom prst="roundRect">
            <a:avLst/>
          </a:prstGeom>
          <a:solidFill>
            <a:srgbClr val="1A2040"/>
          </a:solidFill>
          <a:ln w="12700">
            <a:solidFill>
              <a:srgbClr val="C0392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spcBef>
                <a:spcPts val="800"/>
              </a:spcBef>
              <a:defRPr sz="1100">
                <a:solidFill>
                  <a:srgbClr val="FFFFFF"/>
                </a:solidFill>
              </a:defRPr>
            </a:pPr>
            <a:r>
              <a:t>9. Human Review Workflow</a:t>
            </a:r>
          </a:p>
        </p:txBody>
      </p:sp>
      <p:sp>
        <p:nvSpPr>
          <p:cNvPr id="22" name="Down Arrow 21"/>
          <p:cNvSpPr/>
          <p:nvPr/>
        </p:nvSpPr>
        <p:spPr>
          <a:xfrm>
            <a:off x="1645920" y="6099048"/>
            <a:ext cx="274320" cy="182880"/>
          </a:xfrm>
          <a:prstGeom prst="downArrow">
            <a:avLst/>
          </a:prstGeom>
          <a:solidFill>
            <a:srgbClr val="C0392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Rounded Rectangle 22"/>
          <p:cNvSpPr/>
          <p:nvPr/>
        </p:nvSpPr>
        <p:spPr>
          <a:xfrm>
            <a:off x="4343400" y="5486400"/>
            <a:ext cx="2103120" cy="594360"/>
          </a:xfrm>
          <a:prstGeom prst="roundRect">
            <a:avLst/>
          </a:prstGeom>
          <a:solidFill>
            <a:srgbClr val="1A2040"/>
          </a:solidFill>
          <a:ln w="12700">
            <a:solidFill>
              <a:srgbClr val="C0392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spcBef>
                <a:spcPts val="800"/>
              </a:spcBef>
              <a:defRPr sz="1100">
                <a:solidFill>
                  <a:srgbClr val="FFFFFF"/>
                </a:solidFill>
              </a:defRPr>
            </a:pPr>
            <a:r>
              <a:t>10. Traffic Intelligence Dashboard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D1225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37160" cy="6858000"/>
          </a:xfrm>
          <a:prstGeom prst="rect">
            <a:avLst/>
          </a:prstGeom>
          <a:solidFill>
            <a:srgbClr val="C0392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36576"/>
          </a:xfrm>
          <a:prstGeom prst="rect">
            <a:avLst/>
          </a:prstGeom>
          <a:solidFill>
            <a:srgbClr val="C0392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914400" y="1097280"/>
            <a:ext cx="100584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600" b="1">
                <a:solidFill>
                  <a:srgbClr val="FFFFFF"/>
                </a:solidFill>
              </a:defRPr>
            </a:pPr>
            <a:r>
              <a:t>Key Capabilities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731520" y="2011680"/>
            <a:ext cx="5303520" cy="1280160"/>
          </a:xfrm>
          <a:prstGeom prst="roundRect">
            <a:avLst/>
          </a:prstGeom>
          <a:solidFill>
            <a:srgbClr val="1A2040"/>
          </a:solidFill>
          <a:ln w="12700">
            <a:solidFill>
              <a:srgbClr val="C0392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914400" y="2103120"/>
            <a:ext cx="49377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500" b="1">
                <a:solidFill>
                  <a:srgbClr val="FFFFFF"/>
                </a:solidFill>
              </a:defRPr>
            </a:pPr>
            <a:r>
              <a:t>Helmet Non-Compliance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914400" y="2468880"/>
            <a:ext cx="493776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9CA3AF"/>
                </a:solidFill>
              </a:defRPr>
            </a:pPr>
            <a:r>
              <a:t>Detects riders without visible protective headgear. Confidence-based reporting.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400800" y="2011680"/>
            <a:ext cx="5303520" cy="1280160"/>
          </a:xfrm>
          <a:prstGeom prst="roundRect">
            <a:avLst/>
          </a:prstGeom>
          <a:solidFill>
            <a:srgbClr val="1A2040"/>
          </a:solidFill>
          <a:ln w="12700">
            <a:solidFill>
              <a:srgbClr val="C0392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6583680" y="2103120"/>
            <a:ext cx="49377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500" b="1">
                <a:solidFill>
                  <a:srgbClr val="FFFFFF"/>
                </a:solidFill>
              </a:defRPr>
            </a:pPr>
            <a:r>
              <a:t>Triple Riding &amp; Overloading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583680" y="2468880"/>
            <a:ext cx="493776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9CA3AF"/>
                </a:solidFill>
              </a:defRPr>
            </a:pPr>
            <a:r>
              <a:t>Identifies excessive motorcycle occupants with occupancy ranges (4-5, 6-8, 10-12).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731520" y="3474720"/>
            <a:ext cx="5303520" cy="1280160"/>
          </a:xfrm>
          <a:prstGeom prst="roundRect">
            <a:avLst/>
          </a:prstGeom>
          <a:solidFill>
            <a:srgbClr val="1A2040"/>
          </a:solidFill>
          <a:ln w="12700">
            <a:solidFill>
              <a:srgbClr val="C0392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914400" y="3566160"/>
            <a:ext cx="49377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500" b="1">
                <a:solidFill>
                  <a:srgbClr val="FFFFFF"/>
                </a:solidFill>
              </a:defRPr>
            </a:pPr>
            <a:r>
              <a:t>License Plate Recognition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914400" y="3931920"/>
            <a:ext cx="493776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9CA3AF"/>
                </a:solidFill>
              </a:defRPr>
            </a:pPr>
            <a:r>
              <a:t>OCR with confidence scoring and plate visibility assessment (High/Medium/Low).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6400800" y="3474720"/>
            <a:ext cx="5303520" cy="1280160"/>
          </a:xfrm>
          <a:prstGeom prst="roundRect">
            <a:avLst/>
          </a:prstGeom>
          <a:solidFill>
            <a:srgbClr val="1A2040"/>
          </a:solidFill>
          <a:ln w="12700">
            <a:solidFill>
              <a:srgbClr val="C0392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6583680" y="3566160"/>
            <a:ext cx="49377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500" b="1">
                <a:solidFill>
                  <a:srgbClr val="FFFFFF"/>
                </a:solidFill>
              </a:defRPr>
            </a:pPr>
            <a:r>
              <a:t>Evidence Generation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583680" y="3931920"/>
            <a:ext cx="493776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9CA3AF"/>
                </a:solidFill>
              </a:defRPr>
            </a:pPr>
            <a:r>
              <a:t>Annotated images and downloadable PDF evidence packages for officer review.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731520" y="4937760"/>
            <a:ext cx="5303520" cy="1280160"/>
          </a:xfrm>
          <a:prstGeom prst="roundRect">
            <a:avLst/>
          </a:prstGeom>
          <a:solidFill>
            <a:srgbClr val="1A2040"/>
          </a:solidFill>
          <a:ln w="12700">
            <a:solidFill>
              <a:srgbClr val="C0392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914400" y="5029200"/>
            <a:ext cx="49377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500" b="1">
                <a:solidFill>
                  <a:srgbClr val="FFFFFF"/>
                </a:solidFill>
              </a:defRPr>
            </a:pPr>
            <a:r>
              <a:t>Explainable AI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914400" y="5394960"/>
            <a:ext cx="493776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9CA3AF"/>
                </a:solidFill>
              </a:defRPr>
            </a:pPr>
            <a:r>
              <a:t>Every violation includes confidence, reliability, reason, and recommended response.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6400800" y="4937760"/>
            <a:ext cx="5303520" cy="1280160"/>
          </a:xfrm>
          <a:prstGeom prst="roundRect">
            <a:avLst/>
          </a:prstGeom>
          <a:solidFill>
            <a:srgbClr val="1A2040"/>
          </a:solidFill>
          <a:ln w="12700">
            <a:solidFill>
              <a:srgbClr val="C0392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6583680" y="5029200"/>
            <a:ext cx="49377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500" b="1">
                <a:solidFill>
                  <a:srgbClr val="FFFFFF"/>
                </a:solidFill>
              </a:defRPr>
            </a:pPr>
            <a:r>
              <a:t>Human-in-the-Loop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6583680" y="5394960"/>
            <a:ext cx="493776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9CA3AF"/>
                </a:solidFill>
              </a:defRPr>
            </a:pPr>
            <a:r>
              <a:t>AI flags cases for review — enforcement decisions remain under officer control.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D1225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37160" cy="6858000"/>
          </a:xfrm>
          <a:prstGeom prst="rect">
            <a:avLst/>
          </a:prstGeom>
          <a:solidFill>
            <a:srgbClr val="C0392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36576"/>
          </a:xfrm>
          <a:prstGeom prst="rect">
            <a:avLst/>
          </a:prstGeom>
          <a:solidFill>
            <a:srgbClr val="C0392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914400" y="1097280"/>
            <a:ext cx="100584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600" b="1">
                <a:solidFill>
                  <a:srgbClr val="FFFFFF"/>
                </a:solidFill>
              </a:defRPr>
            </a:pPr>
            <a:r>
              <a:t>Beyond Violation Detection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14400" y="1828800"/>
            <a:ext cx="100584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 b="0">
                <a:solidFill>
                  <a:srgbClr val="9CA3AF"/>
                </a:solidFill>
              </a:defRPr>
            </a:pPr>
            <a:r>
              <a:t>Most systems stop after identifying a violation. TRINETRA AI goes further.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31520" y="2560320"/>
            <a:ext cx="10515600" cy="4114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  <a:defRPr sz="1600">
                <a:solidFill>
                  <a:srgbClr val="9CA3AF"/>
                </a:solidFill>
              </a:defRPr>
            </a:pPr>
            <a:r>
              <a:t>Repeat Offender Intelligence — tracks recurring violations, flags high-risk patterns</a:t>
            </a:r>
          </a:p>
          <a:p>
            <a:pPr>
              <a:spcAft>
                <a:spcPts val="600"/>
              </a:spcAft>
              <a:defRPr sz="1600">
                <a:solidFill>
                  <a:srgbClr val="9CA3AF"/>
                </a:solidFill>
              </a:defRPr>
            </a:pPr>
            <a:r>
              <a:t>Hotspot Analytics — maps violation locations, identifies peak hours and high-risk zones</a:t>
            </a:r>
          </a:p>
          <a:p>
            <a:pPr>
              <a:spcAft>
                <a:spcPts val="600"/>
              </a:spcAft>
              <a:defRPr sz="1600">
                <a:solidFill>
                  <a:srgbClr val="9CA3AF"/>
                </a:solidFill>
              </a:defRPr>
            </a:pPr>
            <a:r>
              <a:t>Risk-Based Prioritization — URGENT / HIGH / MEDIUM / LOW priority per violation</a:t>
            </a:r>
          </a:p>
          <a:p>
            <a:pPr>
              <a:spcAft>
                <a:spcPts val="600"/>
              </a:spcAft>
              <a:defRPr sz="1600">
                <a:solidFill>
                  <a:srgbClr val="9CA3AF"/>
                </a:solidFill>
              </a:defRPr>
            </a:pPr>
            <a:r>
              <a:t>Officer Priority Engine — severity + repeat history + confidence = actionable priority</a:t>
            </a:r>
          </a:p>
          <a:p>
            <a:pPr>
              <a:spcAft>
                <a:spcPts val="600"/>
              </a:spcAft>
              <a:defRPr sz="1600">
                <a:solidFill>
                  <a:srgbClr val="9CA3AF"/>
                </a:solidFill>
              </a:defRPr>
            </a:pPr>
            <a:r>
              <a:t>Vehicle Risk Profiles — risk score, watchlist status, violation history per plate</a:t>
            </a:r>
          </a:p>
          <a:p>
            <a:pPr>
              <a:spcAft>
                <a:spcPts val="600"/>
              </a:spcAft>
              <a:defRPr sz="1600">
                <a:solidFill>
                  <a:srgbClr val="9CA3AF"/>
                </a:solidFill>
              </a:defRPr>
            </a:pPr>
            <a:r>
              <a:t>Traffic Intelligence Center — centralized view of violations, trends, offenders, priorities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D1225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37160" cy="6858000"/>
          </a:xfrm>
          <a:prstGeom prst="rect">
            <a:avLst/>
          </a:prstGeom>
          <a:solidFill>
            <a:srgbClr val="C0392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36576"/>
          </a:xfrm>
          <a:prstGeom prst="rect">
            <a:avLst/>
          </a:prstGeom>
          <a:solidFill>
            <a:srgbClr val="C0392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914400" y="1097280"/>
            <a:ext cx="100584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600" b="1">
                <a:solidFill>
                  <a:srgbClr val="FFFFFF"/>
                </a:solidFill>
              </a:defRPr>
            </a:pPr>
            <a:r>
              <a:t>Why This Matters for Bengaluru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2194560"/>
            <a:ext cx="10515600" cy="4114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  <a:defRPr sz="1600">
                <a:solidFill>
                  <a:srgbClr val="9CA3AF"/>
                </a:solidFill>
              </a:defRPr>
            </a:pPr>
            <a:r>
              <a:t>Reduce manual monitoring effort — AI pre-screens thousands of images</a:t>
            </a:r>
          </a:p>
          <a:p>
            <a:pPr>
              <a:spcAft>
                <a:spcPts val="600"/>
              </a:spcAft>
              <a:defRPr sz="1600">
                <a:solidFill>
                  <a:srgbClr val="9CA3AF"/>
                </a:solidFill>
              </a:defRPr>
            </a:pPr>
            <a:r>
              <a:t>Improve enforcement efficiency — prioritize high-risk violations</a:t>
            </a:r>
          </a:p>
          <a:p>
            <a:pPr>
              <a:spcAft>
                <a:spcPts val="600"/>
              </a:spcAft>
              <a:defRPr sz="1600">
                <a:solidFill>
                  <a:srgbClr val="9CA3AF"/>
                </a:solidFill>
              </a:defRPr>
            </a:pPr>
            <a:r>
              <a:t>Generate evidence faster — automated PDF reports with all case details</a:t>
            </a:r>
          </a:p>
          <a:p>
            <a:pPr>
              <a:spcAft>
                <a:spcPts val="600"/>
              </a:spcAft>
              <a:defRPr sz="1600">
                <a:solidFill>
                  <a:srgbClr val="9CA3AF"/>
                </a:solidFill>
              </a:defRPr>
            </a:pPr>
            <a:r>
              <a:t>Increase operational visibility — real-time dashboard with trends and hotspots</a:t>
            </a:r>
          </a:p>
          <a:p>
            <a:pPr>
              <a:spcAft>
                <a:spcPts val="600"/>
              </a:spcAft>
              <a:defRPr sz="1600">
                <a:solidFill>
                  <a:srgbClr val="9CA3AF"/>
                </a:solidFill>
              </a:defRPr>
            </a:pPr>
            <a:r>
              <a:t>Support data-driven decisions — analytics, forecasts, and risk intelligence</a:t>
            </a:r>
          </a:p>
          <a:p>
            <a:pPr>
              <a:spcAft>
                <a:spcPts val="600"/>
              </a:spcAft>
              <a:defRPr sz="1600">
                <a:solidFill>
                  <a:srgbClr val="9CA3AF"/>
                </a:solidFill>
              </a:defRPr>
            </a:pPr>
            <a:r>
              <a:t>Scale enforcement capacity — from single images to city-wide deployment</a:t>
            </a:r>
          </a:p>
          <a:p>
            <a:pPr>
              <a:spcAft>
                <a:spcPts val="600"/>
              </a:spcAft>
              <a:defRPr sz="1600">
                <a:solidFill>
                  <a:srgbClr val="9CA3AF"/>
                </a:solidFill>
              </a:defRPr>
            </a:pPr>
            <a:r>
              <a:t>Deploy smarter — edge cameras, cloud analytics, future E-Challan integration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D1225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37160" cy="6858000"/>
          </a:xfrm>
          <a:prstGeom prst="rect">
            <a:avLst/>
          </a:prstGeom>
          <a:solidFill>
            <a:srgbClr val="C0392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36576"/>
          </a:xfrm>
          <a:prstGeom prst="rect">
            <a:avLst/>
          </a:prstGeom>
          <a:solidFill>
            <a:srgbClr val="C0392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914400" y="1097280"/>
            <a:ext cx="100584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600" b="1">
                <a:solidFill>
                  <a:srgbClr val="FFFFFF"/>
                </a:solidFill>
              </a:defRPr>
            </a:pPr>
            <a:r>
              <a:t>Responsible AI by Design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2194560"/>
            <a:ext cx="10515600" cy="4114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  <a:defRPr sz="1600">
                <a:solidFill>
                  <a:srgbClr val="9CA3AF"/>
                </a:solidFill>
              </a:defRPr>
            </a:pPr>
            <a:r>
              <a:t>Confidence-Based Reporting — no binary decisions, always quantified uncertainty</a:t>
            </a:r>
          </a:p>
          <a:p>
            <a:pPr>
              <a:spcAft>
                <a:spcPts val="600"/>
              </a:spcAft>
              <a:defRPr sz="1600">
                <a:solidFill>
                  <a:srgbClr val="9CA3AF"/>
                </a:solidFill>
              </a:defRPr>
            </a:pPr>
            <a:r>
              <a:t>Reliability Scoring — High / Medium / Low / Limited based on crowding and clarity</a:t>
            </a:r>
          </a:p>
          <a:p>
            <a:pPr>
              <a:spcAft>
                <a:spcPts val="600"/>
              </a:spcAft>
              <a:defRPr sz="1600">
                <a:solidFill>
                  <a:srgbClr val="9CA3AF"/>
                </a:solidFill>
              </a:defRPr>
            </a:pPr>
            <a:r>
              <a:t>Explainable Recommendations — every violation includes a natural-language reason</a:t>
            </a:r>
          </a:p>
          <a:p>
            <a:pPr>
              <a:spcAft>
                <a:spcPts val="600"/>
              </a:spcAft>
              <a:defRPr sz="1600">
                <a:solidFill>
                  <a:srgbClr val="9CA3AF"/>
                </a:solidFill>
              </a:defRPr>
            </a:pPr>
            <a:r>
              <a:t>Human Verification Workflows — auto-confirmed, review recommended, manual verification</a:t>
            </a:r>
          </a:p>
          <a:p>
            <a:pPr>
              <a:spcAft>
                <a:spcPts val="600"/>
              </a:spcAft>
              <a:defRPr sz="1600">
                <a:solidFill>
                  <a:srgbClr val="9CA3AF"/>
                </a:solidFill>
              </a:defRPr>
            </a:pPr>
            <a:r>
              <a:t>No Automated Enforcement — AI is a decision-support tool, not an enforcement authority</a:t>
            </a:r>
          </a:p>
          <a:p>
            <a:pPr>
              <a:spcAft>
                <a:spcPts val="600"/>
              </a:spcAft>
              <a:defRPr sz="1600">
                <a:solidFill>
                  <a:srgbClr val="9CA3AF"/>
                </a:solidFill>
              </a:defRPr>
            </a:pPr>
            <a:r>
              <a:t>Occupancy Ranges — never implies exact certainty for crowded scenes</a:t>
            </a:r>
          </a:p>
          <a:p>
            <a:pPr>
              <a:spcAft>
                <a:spcPts val="600"/>
              </a:spcAft>
              <a:defRPr sz="1600">
                <a:solidFill>
                  <a:srgbClr val="9CA3AF"/>
                </a:solidFill>
              </a:defRPr>
            </a:pPr>
            <a:r>
              <a:t>Single-Image Analysis — no motion-based violations (wrong-side, red-light disabled)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D1225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37160" cy="6858000"/>
          </a:xfrm>
          <a:prstGeom prst="rect">
            <a:avLst/>
          </a:prstGeom>
          <a:solidFill>
            <a:srgbClr val="C0392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36576"/>
          </a:xfrm>
          <a:prstGeom prst="rect">
            <a:avLst/>
          </a:prstGeom>
          <a:solidFill>
            <a:srgbClr val="C0392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914400" y="1097280"/>
            <a:ext cx="100584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600" b="1">
                <a:solidFill>
                  <a:srgbClr val="FFFFFF"/>
                </a:solidFill>
              </a:defRPr>
            </a:pPr>
            <a:r>
              <a:t>System Architecture</a:t>
            </a:r>
          </a:p>
        </p:txBody>
      </p:sp>
      <p:sp>
        <p:nvSpPr>
          <p:cNvPr id="5" name="Oval 4"/>
          <p:cNvSpPr/>
          <p:nvPr/>
        </p:nvSpPr>
        <p:spPr>
          <a:xfrm>
            <a:off x="731520" y="1874520"/>
            <a:ext cx="320040" cy="320040"/>
          </a:xfrm>
          <a:prstGeom prst="ellipse">
            <a:avLst/>
          </a:prstGeom>
          <a:solidFill>
            <a:srgbClr val="C0392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200" b="1">
                <a:solidFill>
                  <a:srgbClr val="FFFFFF"/>
                </a:solidFill>
              </a:defRPr>
            </a:pPr>
            <a:r>
              <a:t>1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280160" y="1828800"/>
            <a:ext cx="32004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FFFFFF"/>
                </a:solidFill>
              </a:defRPr>
            </a:pPr>
            <a:r>
              <a:t>Edge Camera Processing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572000" y="1828800"/>
            <a:ext cx="68580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9CA3AF"/>
                </a:solidFill>
              </a:defRPr>
            </a:pPr>
            <a:r>
              <a:t>Image capture, quality assessment, bandwidth-efficient upload</a:t>
            </a:r>
          </a:p>
        </p:txBody>
      </p:sp>
      <p:sp>
        <p:nvSpPr>
          <p:cNvPr id="8" name="Oval 7"/>
          <p:cNvSpPr/>
          <p:nvPr/>
        </p:nvSpPr>
        <p:spPr>
          <a:xfrm>
            <a:off x="731520" y="2441448"/>
            <a:ext cx="320040" cy="320040"/>
          </a:xfrm>
          <a:prstGeom prst="ellipse">
            <a:avLst/>
          </a:prstGeom>
          <a:solidFill>
            <a:srgbClr val="C0392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200" b="1">
                <a:solidFill>
                  <a:srgbClr val="FFFFFF"/>
                </a:solidFill>
              </a:defRPr>
            </a:pPr>
            <a:r>
              <a:t>2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280160" y="2395728"/>
            <a:ext cx="32004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FFFFFF"/>
                </a:solidFill>
              </a:defRPr>
            </a:pPr>
            <a:r>
              <a:t>TRINETRA Vision Engine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572000" y="2395728"/>
            <a:ext cx="68580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9CA3AF"/>
                </a:solidFill>
              </a:defRPr>
            </a:pPr>
            <a:r>
              <a:t>YOLOv8s detection, rider association, occupancy estimation</a:t>
            </a:r>
          </a:p>
        </p:txBody>
      </p:sp>
      <p:sp>
        <p:nvSpPr>
          <p:cNvPr id="11" name="Oval 10"/>
          <p:cNvSpPr/>
          <p:nvPr/>
        </p:nvSpPr>
        <p:spPr>
          <a:xfrm>
            <a:off x="731520" y="3008376"/>
            <a:ext cx="320040" cy="320040"/>
          </a:xfrm>
          <a:prstGeom prst="ellipse">
            <a:avLst/>
          </a:prstGeom>
          <a:solidFill>
            <a:srgbClr val="C0392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200" b="1">
                <a:solidFill>
                  <a:srgbClr val="FFFFFF"/>
                </a:solidFill>
              </a:defRPr>
            </a:pPr>
            <a:r>
              <a:t>3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280160" y="2962656"/>
            <a:ext cx="32004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FFFFFF"/>
                </a:solidFill>
              </a:defRPr>
            </a:pPr>
            <a:r>
              <a:t>Violation Detection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4572000" y="2962656"/>
            <a:ext cx="68580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9CA3AF"/>
                </a:solidFill>
              </a:defRPr>
            </a:pPr>
            <a:r>
              <a:t>Helmet compliance, triple riding, overloading, illegal parking</a:t>
            </a:r>
          </a:p>
        </p:txBody>
      </p:sp>
      <p:sp>
        <p:nvSpPr>
          <p:cNvPr id="14" name="Oval 13"/>
          <p:cNvSpPr/>
          <p:nvPr/>
        </p:nvSpPr>
        <p:spPr>
          <a:xfrm>
            <a:off x="731520" y="3575304"/>
            <a:ext cx="320040" cy="320040"/>
          </a:xfrm>
          <a:prstGeom prst="ellipse">
            <a:avLst/>
          </a:prstGeom>
          <a:solidFill>
            <a:srgbClr val="C0392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200" b="1">
                <a:solidFill>
                  <a:srgbClr val="FFFFFF"/>
                </a:solidFill>
              </a:defRPr>
            </a:pPr>
            <a:r>
              <a:t>4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280160" y="3529584"/>
            <a:ext cx="32004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FFFFFF"/>
                </a:solidFill>
              </a:defRPr>
            </a:pPr>
            <a:r>
              <a:t>OCR Engine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4572000" y="3529584"/>
            <a:ext cx="68580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9CA3AF"/>
                </a:solidFill>
              </a:defRPr>
            </a:pPr>
            <a:r>
              <a:t>License plate recognition, confidence scoring, visibility assessment</a:t>
            </a:r>
          </a:p>
        </p:txBody>
      </p:sp>
      <p:sp>
        <p:nvSpPr>
          <p:cNvPr id="17" name="Oval 16"/>
          <p:cNvSpPr/>
          <p:nvPr/>
        </p:nvSpPr>
        <p:spPr>
          <a:xfrm>
            <a:off x="731520" y="4142232"/>
            <a:ext cx="320040" cy="320040"/>
          </a:xfrm>
          <a:prstGeom prst="ellipse">
            <a:avLst/>
          </a:prstGeom>
          <a:solidFill>
            <a:srgbClr val="C0392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200" b="1">
                <a:solidFill>
                  <a:srgbClr val="FFFFFF"/>
                </a:solidFill>
              </a:defRPr>
            </a:pPr>
            <a:r>
              <a:t>5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280160" y="4096512"/>
            <a:ext cx="32004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FFFFFF"/>
                </a:solidFill>
              </a:defRPr>
            </a:pPr>
            <a:r>
              <a:t>Evidence Generator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4572000" y="4096512"/>
            <a:ext cx="68580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9CA3AF"/>
                </a:solidFill>
              </a:defRPr>
            </a:pPr>
            <a:r>
              <a:t>Annotated images, PDF evidence packages, timestamped reports</a:t>
            </a:r>
          </a:p>
        </p:txBody>
      </p:sp>
      <p:sp>
        <p:nvSpPr>
          <p:cNvPr id="20" name="Oval 19"/>
          <p:cNvSpPr/>
          <p:nvPr/>
        </p:nvSpPr>
        <p:spPr>
          <a:xfrm>
            <a:off x="731520" y="4709160"/>
            <a:ext cx="320040" cy="320040"/>
          </a:xfrm>
          <a:prstGeom prst="ellipse">
            <a:avLst/>
          </a:prstGeom>
          <a:solidFill>
            <a:srgbClr val="C0392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200" b="1">
                <a:solidFill>
                  <a:srgbClr val="FFFFFF"/>
                </a:solidFill>
              </a:defRPr>
            </a:pPr>
            <a:r>
              <a:t>6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1280160" y="4663440"/>
            <a:ext cx="32004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FFFFFF"/>
                </a:solidFill>
              </a:defRPr>
            </a:pPr>
            <a:r>
              <a:t>Risk Assessment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4572000" y="4663440"/>
            <a:ext cx="68580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9CA3AF"/>
                </a:solidFill>
              </a:defRPr>
            </a:pPr>
            <a:r>
              <a:t>Severity scoring, officer priority, reliability calculation</a:t>
            </a:r>
          </a:p>
        </p:txBody>
      </p:sp>
      <p:sp>
        <p:nvSpPr>
          <p:cNvPr id="23" name="Oval 22"/>
          <p:cNvSpPr/>
          <p:nvPr/>
        </p:nvSpPr>
        <p:spPr>
          <a:xfrm>
            <a:off x="731520" y="5276088"/>
            <a:ext cx="320040" cy="320040"/>
          </a:xfrm>
          <a:prstGeom prst="ellipse">
            <a:avLst/>
          </a:prstGeom>
          <a:solidFill>
            <a:srgbClr val="C0392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200" b="1">
                <a:solidFill>
                  <a:srgbClr val="FFFFFF"/>
                </a:solidFill>
              </a:defRPr>
            </a:pPr>
            <a:r>
              <a:t>7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1280160" y="5230368"/>
            <a:ext cx="32004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FFFFFF"/>
                </a:solidFill>
              </a:defRPr>
            </a:pPr>
            <a:r>
              <a:t>Human Review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4572000" y="5230368"/>
            <a:ext cx="68580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9CA3AF"/>
                </a:solidFill>
              </a:defRPr>
            </a:pPr>
            <a:r>
              <a:t>3-stage workflow: auto-confirmed, review recommended, manual verification</a:t>
            </a:r>
          </a:p>
        </p:txBody>
      </p:sp>
      <p:sp>
        <p:nvSpPr>
          <p:cNvPr id="26" name="Oval 25"/>
          <p:cNvSpPr/>
          <p:nvPr/>
        </p:nvSpPr>
        <p:spPr>
          <a:xfrm>
            <a:off x="731520" y="5843016"/>
            <a:ext cx="320040" cy="320040"/>
          </a:xfrm>
          <a:prstGeom prst="ellipse">
            <a:avLst/>
          </a:prstGeom>
          <a:solidFill>
            <a:srgbClr val="C0392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200" b="1">
                <a:solidFill>
                  <a:srgbClr val="FFFFFF"/>
                </a:solidFill>
              </a:defRPr>
            </a:pPr>
            <a:r>
              <a:t>8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1280160" y="5797296"/>
            <a:ext cx="32004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FFFFFF"/>
                </a:solidFill>
              </a:defRPr>
            </a:pPr>
            <a:r>
              <a:t>Traffic Intelligence Center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4572000" y="5797296"/>
            <a:ext cx="68580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9CA3AF"/>
                </a:solidFill>
              </a:defRPr>
            </a:pPr>
            <a:r>
              <a:t>Executive summary, hotspots, repeat offenders, trends, forecasts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D1225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37160" cy="6858000"/>
          </a:xfrm>
          <a:prstGeom prst="rect">
            <a:avLst/>
          </a:prstGeom>
          <a:solidFill>
            <a:srgbClr val="C0392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36576"/>
          </a:xfrm>
          <a:prstGeom prst="rect">
            <a:avLst/>
          </a:prstGeom>
          <a:solidFill>
            <a:srgbClr val="C0392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914400" y="1097280"/>
            <a:ext cx="100584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600" b="1">
                <a:solidFill>
                  <a:srgbClr val="FFFFFF"/>
                </a:solidFill>
              </a:defRPr>
            </a:pPr>
            <a:r>
              <a:t>Future Roadmap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2194560"/>
            <a:ext cx="10515600" cy="4114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  <a:defRPr sz="1600">
                <a:solidFill>
                  <a:srgbClr val="9CA3AF"/>
                </a:solidFill>
              </a:defRPr>
            </a:pPr>
            <a:r>
              <a:t>Live CCTV Streams — real-time processing from existing camera infrastructure</a:t>
            </a:r>
          </a:p>
          <a:p>
            <a:pPr>
              <a:spcAft>
                <a:spcPts val="600"/>
              </a:spcAft>
              <a:defRPr sz="1600">
                <a:solidFill>
                  <a:srgbClr val="9CA3AF"/>
                </a:solidFill>
              </a:defRPr>
            </a:pPr>
            <a:r>
              <a:t>Edge AI Deployment — on-device inference at camera nodes for low latency</a:t>
            </a:r>
          </a:p>
          <a:p>
            <a:pPr>
              <a:spcAft>
                <a:spcPts val="600"/>
              </a:spcAft>
              <a:defRPr sz="1600">
                <a:solidFill>
                  <a:srgbClr val="9CA3AF"/>
                </a:solidFill>
              </a:defRPr>
            </a:pPr>
            <a:r>
              <a:t>Smart City Platform Integration — API-first design for municipal systems</a:t>
            </a:r>
          </a:p>
          <a:p>
            <a:pPr>
              <a:spcAft>
                <a:spcPts val="600"/>
              </a:spcAft>
              <a:defRPr sz="1600">
                <a:solidFill>
                  <a:srgbClr val="9CA3AF"/>
                </a:solidFill>
              </a:defRPr>
            </a:pPr>
            <a:r>
              <a:t>E-Challan Integration — automated challan generation after officer approval</a:t>
            </a:r>
          </a:p>
          <a:p>
            <a:pPr>
              <a:spcAft>
                <a:spcPts val="600"/>
              </a:spcAft>
              <a:defRPr sz="1600">
                <a:solidFill>
                  <a:srgbClr val="9CA3AF"/>
                </a:solidFill>
              </a:defRPr>
            </a:pPr>
            <a:r>
              <a:t>Traffic Command Centers — centralized monitoring with real-time dashboards</a:t>
            </a:r>
          </a:p>
          <a:p>
            <a:pPr>
              <a:spcAft>
                <a:spcPts val="600"/>
              </a:spcAft>
              <a:defRPr sz="1600">
                <a:solidFill>
                  <a:srgbClr val="9CA3AF"/>
                </a:solidFill>
              </a:defRPr>
            </a:pPr>
            <a:r>
              <a:t>Predictive Congestion Analytics — forecasting high-risk periods and locations</a:t>
            </a:r>
          </a:p>
          <a:p>
            <a:pPr>
              <a:spcAft>
                <a:spcPts val="600"/>
              </a:spcAft>
              <a:defRPr sz="1600">
                <a:solidFill>
                  <a:srgbClr val="9CA3AF"/>
                </a:solidFill>
              </a:defRPr>
            </a:pPr>
            <a:r>
              <a:t>Multi-City Scale — designed for deployment across Indian metropolitan cities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D1225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37160" cy="6858000"/>
          </a:xfrm>
          <a:prstGeom prst="rect">
            <a:avLst/>
          </a:prstGeom>
          <a:solidFill>
            <a:srgbClr val="C0392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36576"/>
          </a:xfrm>
          <a:prstGeom prst="rect">
            <a:avLst/>
          </a:prstGeom>
          <a:solidFill>
            <a:srgbClr val="C0392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914400" y="1097280"/>
            <a:ext cx="100584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600" b="1">
                <a:solidFill>
                  <a:srgbClr val="FFFFFF"/>
                </a:solidFill>
              </a:defRPr>
            </a:pPr>
            <a:r>
              <a:t>TRINETRA AI — Platform Summary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914400" y="2286000"/>
            <a:ext cx="3291840" cy="457200"/>
          </a:xfrm>
          <a:prstGeom prst="roundRect">
            <a:avLst/>
          </a:prstGeom>
          <a:solidFill>
            <a:srgbClr val="1A2040"/>
          </a:solidFill>
          <a:ln w="12700">
            <a:solidFill>
              <a:srgbClr val="A78BF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spcBef>
                <a:spcPts val="400"/>
              </a:spcBef>
              <a:defRPr sz="1400">
                <a:solidFill>
                  <a:srgbClr val="FFFFFF"/>
                </a:solidFill>
              </a:defRPr>
            </a:pPr>
            <a:r>
              <a:t>✓ Violation Detection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4572000" y="2286000"/>
            <a:ext cx="3291840" cy="457200"/>
          </a:xfrm>
          <a:prstGeom prst="roundRect">
            <a:avLst/>
          </a:prstGeom>
          <a:solidFill>
            <a:srgbClr val="1A2040"/>
          </a:solidFill>
          <a:ln w="12700">
            <a:solidFill>
              <a:srgbClr val="A78BF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spcBef>
                <a:spcPts val="400"/>
              </a:spcBef>
              <a:defRPr sz="1400">
                <a:solidFill>
                  <a:srgbClr val="FFFFFF"/>
                </a:solidFill>
              </a:defRPr>
            </a:pPr>
            <a:r>
              <a:t>✓ Explainable AI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8229600" y="2286000"/>
            <a:ext cx="3291840" cy="457200"/>
          </a:xfrm>
          <a:prstGeom prst="roundRect">
            <a:avLst/>
          </a:prstGeom>
          <a:solidFill>
            <a:srgbClr val="1A2040"/>
          </a:solidFill>
          <a:ln w="12700">
            <a:solidFill>
              <a:srgbClr val="A78BF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spcBef>
                <a:spcPts val="400"/>
              </a:spcBef>
              <a:defRPr sz="1400">
                <a:solidFill>
                  <a:srgbClr val="FFFFFF"/>
                </a:solidFill>
              </a:defRPr>
            </a:pPr>
            <a:r>
              <a:t>✓ Confidence Scoring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914400" y="2926080"/>
            <a:ext cx="3291840" cy="457200"/>
          </a:xfrm>
          <a:prstGeom prst="roundRect">
            <a:avLst/>
          </a:prstGeom>
          <a:solidFill>
            <a:srgbClr val="1A2040"/>
          </a:solidFill>
          <a:ln w="12700">
            <a:solidFill>
              <a:srgbClr val="A78BF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spcBef>
                <a:spcPts val="400"/>
              </a:spcBef>
              <a:defRPr sz="1400">
                <a:solidFill>
                  <a:srgbClr val="FFFFFF"/>
                </a:solidFill>
              </a:defRPr>
            </a:pPr>
            <a:r>
              <a:t>✓ Human Review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4572000" y="2926080"/>
            <a:ext cx="3291840" cy="457200"/>
          </a:xfrm>
          <a:prstGeom prst="roundRect">
            <a:avLst/>
          </a:prstGeom>
          <a:solidFill>
            <a:srgbClr val="1A2040"/>
          </a:solidFill>
          <a:ln w="12700">
            <a:solidFill>
              <a:srgbClr val="A78BF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spcBef>
                <a:spcPts val="400"/>
              </a:spcBef>
              <a:defRPr sz="1400">
                <a:solidFill>
                  <a:srgbClr val="FFFFFF"/>
                </a:solidFill>
              </a:defRPr>
            </a:pPr>
            <a:r>
              <a:t>✓ Evidence Generation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8229600" y="2926080"/>
            <a:ext cx="3291840" cy="457200"/>
          </a:xfrm>
          <a:prstGeom prst="roundRect">
            <a:avLst/>
          </a:prstGeom>
          <a:solidFill>
            <a:srgbClr val="1A2040"/>
          </a:solidFill>
          <a:ln w="12700">
            <a:solidFill>
              <a:srgbClr val="A78BF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spcBef>
                <a:spcPts val="400"/>
              </a:spcBef>
              <a:defRPr sz="1400">
                <a:solidFill>
                  <a:srgbClr val="FFFFFF"/>
                </a:solidFill>
              </a:defRPr>
            </a:pPr>
            <a:r>
              <a:t>✓ Repeat Offender Intelligence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914400" y="3566160"/>
            <a:ext cx="3291840" cy="457200"/>
          </a:xfrm>
          <a:prstGeom prst="roundRect">
            <a:avLst/>
          </a:prstGeom>
          <a:solidFill>
            <a:srgbClr val="1A2040"/>
          </a:solidFill>
          <a:ln w="12700">
            <a:solidFill>
              <a:srgbClr val="A78BF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spcBef>
                <a:spcPts val="400"/>
              </a:spcBef>
              <a:defRPr sz="1400">
                <a:solidFill>
                  <a:srgbClr val="FFFFFF"/>
                </a:solidFill>
              </a:defRPr>
            </a:pPr>
            <a:r>
              <a:t>✓ Hotspot Analytics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4572000" y="3566160"/>
            <a:ext cx="3291840" cy="457200"/>
          </a:xfrm>
          <a:prstGeom prst="roundRect">
            <a:avLst/>
          </a:prstGeom>
          <a:solidFill>
            <a:srgbClr val="1A2040"/>
          </a:solidFill>
          <a:ln w="12700">
            <a:solidFill>
              <a:srgbClr val="A78BF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spcBef>
                <a:spcPts val="400"/>
              </a:spcBef>
              <a:defRPr sz="1400">
                <a:solidFill>
                  <a:srgbClr val="FFFFFF"/>
                </a:solidFill>
              </a:defRPr>
            </a:pPr>
            <a:r>
              <a:t>✓ Officer Prioritization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8229600" y="3566160"/>
            <a:ext cx="3291840" cy="457200"/>
          </a:xfrm>
          <a:prstGeom prst="roundRect">
            <a:avLst/>
          </a:prstGeom>
          <a:solidFill>
            <a:srgbClr val="1A2040"/>
          </a:solidFill>
          <a:ln w="12700">
            <a:solidFill>
              <a:srgbClr val="A78BF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spcBef>
                <a:spcPts val="400"/>
              </a:spcBef>
              <a:defRPr sz="1400">
                <a:solidFill>
                  <a:srgbClr val="FFFFFF"/>
                </a:solidFill>
              </a:defRPr>
            </a:pPr>
            <a:r>
              <a:t>✓ Smart City Readiness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914400" y="4572000"/>
            <a:ext cx="1005840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800" b="0">
                <a:solidFill>
                  <a:srgbClr val="9CA3AF"/>
                </a:solidFill>
              </a:defRPr>
            </a:pPr>
            <a:r>
              <a:t>"TRINETRA AI transforms traffic imagery into actionable enforcement intelligence</a:t>
            </a:r>
            <a:br/>
            <a:r>
              <a:t>that can support city-scale traffic operations."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D1225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37160" cy="6858000"/>
          </a:xfrm>
          <a:prstGeom prst="rect">
            <a:avLst/>
          </a:prstGeom>
          <a:solidFill>
            <a:srgbClr val="C0392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36576"/>
          </a:xfrm>
          <a:prstGeom prst="rect">
            <a:avLst/>
          </a:prstGeom>
          <a:solidFill>
            <a:srgbClr val="C0392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914400" y="1097280"/>
            <a:ext cx="100584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600" b="1">
                <a:solidFill>
                  <a:srgbClr val="FFFFFF"/>
                </a:solidFill>
              </a:defRPr>
            </a:pPr>
            <a:r>
              <a:t>Expected Impact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2194560"/>
            <a:ext cx="10515600" cy="4114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  <a:defRPr sz="1600">
                <a:solidFill>
                  <a:srgbClr val="9CA3AF"/>
                </a:solidFill>
              </a:defRPr>
            </a:pPr>
            <a:r>
              <a:t>Reduced Manual Monitoring — AI pre-screening cuts review time by over 60%</a:t>
            </a:r>
          </a:p>
          <a:p>
            <a:pPr>
              <a:spcAft>
                <a:spcPts val="600"/>
              </a:spcAft>
              <a:defRPr sz="1600">
                <a:solidFill>
                  <a:srgbClr val="9CA3AF"/>
                </a:solidFill>
              </a:defRPr>
            </a:pPr>
            <a:r>
              <a:t>Faster Violation Identification — real-time detection and classification</a:t>
            </a:r>
          </a:p>
          <a:p>
            <a:pPr>
              <a:spcAft>
                <a:spcPts val="600"/>
              </a:spcAft>
              <a:defRPr sz="1600">
                <a:solidFill>
                  <a:srgbClr val="9CA3AF"/>
                </a:solidFill>
              </a:defRPr>
            </a:pPr>
            <a:r>
              <a:t>Improved Enforcement Prioritization — critical cases flagged immediately</a:t>
            </a:r>
          </a:p>
          <a:p>
            <a:pPr>
              <a:spcAft>
                <a:spcPts val="600"/>
              </a:spcAft>
              <a:defRPr sz="1600">
                <a:solidFill>
                  <a:srgbClr val="9CA3AF"/>
                </a:solidFill>
              </a:defRPr>
            </a:pPr>
            <a:r>
              <a:t>Hotspot Awareness — location-based targeting for enforcement campaigns</a:t>
            </a:r>
          </a:p>
          <a:p>
            <a:pPr>
              <a:spcAft>
                <a:spcPts val="600"/>
              </a:spcAft>
              <a:defRPr sz="1600">
                <a:solidFill>
                  <a:srgbClr val="9CA3AF"/>
                </a:solidFill>
              </a:defRPr>
            </a:pPr>
            <a:r>
              <a:t>Repeat Offender Tracking — vehicle risk profiles with watchlist alerts</a:t>
            </a:r>
          </a:p>
          <a:p>
            <a:pPr>
              <a:spcAft>
                <a:spcPts val="600"/>
              </a:spcAft>
              <a:defRPr sz="1600">
                <a:solidFill>
                  <a:srgbClr val="9CA3AF"/>
                </a:solidFill>
              </a:defRPr>
            </a:pPr>
            <a:r>
              <a:t>Evidence-Based Decisions — confidence scoring and human-review workflow</a:t>
            </a:r>
          </a:p>
          <a:p>
            <a:pPr>
              <a:spcAft>
                <a:spcPts val="600"/>
              </a:spcAft>
              <a:defRPr sz="1600">
                <a:solidFill>
                  <a:srgbClr val="9CA3AF"/>
                </a:solidFill>
              </a:defRPr>
            </a:pPr>
            <a:r>
              <a:t>Scalable Architecture — from single image to city-wide deployment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D1225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914400" y="1828800"/>
            <a:ext cx="100584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4800" b="1">
                <a:solidFill>
                  <a:srgbClr val="C0392B"/>
                </a:solidFill>
              </a:defRPr>
            </a:pPr>
            <a:r>
              <a:t>TRINETRA AI</a:t>
            </a:r>
          </a:p>
        </p:txBody>
      </p:sp>
      <p:sp>
        <p:nvSpPr>
          <p:cNvPr id="3" name="Rectangle 2"/>
          <p:cNvSpPr/>
          <p:nvPr/>
        </p:nvSpPr>
        <p:spPr>
          <a:xfrm>
            <a:off x="5029200" y="2926080"/>
            <a:ext cx="2103120" cy="54864"/>
          </a:xfrm>
          <a:prstGeom prst="rect">
            <a:avLst/>
          </a:prstGeom>
          <a:solidFill>
            <a:srgbClr val="C0392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914400" y="3291840"/>
            <a:ext cx="100584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200" b="0">
                <a:solidFill>
                  <a:srgbClr val="FFFFFF"/>
                </a:solidFill>
              </a:defRPr>
            </a:pPr>
            <a:r>
              <a:t>AI-Powered Traffic Enforcement Intelligence Platform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14400" y="4114800"/>
            <a:ext cx="100584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800" b="0">
                <a:solidFill>
                  <a:srgbClr val="9CA3AF"/>
                </a:solidFill>
              </a:defRPr>
            </a:pPr>
            <a:r>
              <a:t>Transforming Traffic Images into Actionable Enforcement Intelligence</a:t>
            </a:r>
            <a:br/>
            <a:br/>
            <a:r>
              <a:t>Designed for Bengaluru Traffic Police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914400" y="5669280"/>
            <a:ext cx="100584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000" b="0">
                <a:solidFill>
                  <a:srgbClr val="9CA3AF"/>
                </a:solidFill>
              </a:defRPr>
            </a:pPr>
            <a:r>
              <a:t>v3.0.0  |  TRINETRA AI  |  All Rights Reserved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