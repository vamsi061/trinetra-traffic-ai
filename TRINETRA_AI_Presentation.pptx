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C0392B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3474720"/>
            <a:ext cx="274320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AI-Powered Traffic Enforcement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</a:defRPr>
            </a:pPr>
            <a:r>
              <a:t>TRINETRA AI  |  Hackathon Submission  |  v3.0.0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594360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Large volumes of traffic images are generated daily from surveillance cameras.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Manual inspection to identify violations is labor-intensive, time-consuming,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and prone to inconsistencies.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An intelligent system is needed to: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Automatically process traffic images and detect vehicles &amp; road users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Identify and classify traffic violations with confidence scores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Generate annotated evidence for review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Be robust to varying light, weather, traffic density, and image quality</a:t>
            </a:r>
          </a:p>
          <a:p>
            <a:pPr>
              <a:spcAft>
                <a:spcPts val="400"/>
              </a:spcAft>
              <a:defRPr sz="1600">
                <a:solidFill>
                  <a:srgbClr val="9CA3AF"/>
                </a:solidFill>
              </a:defRPr>
            </a:pPr>
            <a:r>
              <a:t>• Maintain high accuracy and scalability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Our Solution — TRINETRA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complete computer-vision pipeline for traffic violation detection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Image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Quality assessment, enhancement for low-light, rain, shadows, blur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YOLOv8s: vehicles, motorcycles, persons, buses, trucks, auto-rickshaws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Traffic Violation Detection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types: Helmet (Beta), Triple Riding, Overloading, Seatbelt, Wrong Side, Red Light, Stop 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566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Violation Classification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31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Categorize violations with confidence scores and severity bands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License Plate Recognition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OCR-based number plate detection and text extraction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66344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754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Evidence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20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with callouts, legend, confidence scores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52160"/>
            <a:ext cx="5394960" cy="10058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392B"/>
                </a:solidFill>
              </a:defRPr>
            </a:pPr>
            <a:r>
              <a:t>Analytics &amp; Reporting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309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statistics, trends, repeat-offender tracking, searchable records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Image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Enhancing image quality and normalizing inputs for robust detection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Low-Light Enhancement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Adaptive brightness correction for dark/night-time images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Deblurring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Motion blur reduction for fast-moving vehicles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37744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Dehazing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92608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Haze and fog removal for adverse weather conditions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Contrast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Histogram equalization to improve feature visibility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Noise Reduction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Median filtering to suppress sensor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4389120"/>
            <a:ext cx="3566160" cy="1645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389120"/>
            <a:ext cx="356616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4526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Shadow Removal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93776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Shadow compensation to avoid false positives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Vehicle &amp; Road User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Detecting and localizing all road users with YOLOv8s — exact person/pedestrian 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51560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2199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Multi-class detection: person, car, motorcycle, bus, truck, bicycle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43200"/>
            <a:ext cx="1051560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70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✅ Accurate pedestrian counting — exact person count per image, supporting crowd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1051560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192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Detection confidence scoring with configurable thresholds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51560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6791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Instance tracking: each detection assigned a unique instance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1051560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1655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Distance-based rider association for motorcycles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51560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6519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Pedestrian detection and background filtering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486400"/>
            <a:ext cx="10515600" cy="4572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5138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4-tier detection engine architecture (YOLO built-in + 3 zero-shot options)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035040"/>
            <a:ext cx="10515600" cy="45720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606247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Automatic fallback between engines if one fails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Traffic Violation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7 violation types detected with confidence scoring &amp;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194560"/>
            <a:ext cx="274320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No Helmet [BETA]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Motorcycle riders without helmets.</a:t>
            </a:r>
            <a:br/>
            <a:r>
              <a:t>YOLO helmet classifier (Beta) + HSV fallback.</a:t>
            </a:r>
            <a:br/>
            <a:r>
              <a:t>Confidence range: 50-90%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21945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</a:defRPr>
            </a:pPr>
            <a:r>
              <a:t>Triple Riding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3+ riders per motorcycle via</a:t>
            </a:r>
            <a:br/>
            <a:r>
              <a:t>distance-based rider association.</a:t>
            </a:r>
            <a:br/>
            <a:r>
              <a:t>Confidence range: 75-85%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1945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97316"/>
                </a:solidFill>
              </a:defRPr>
            </a:pPr>
            <a:r>
              <a:t>Overloading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4-5 = Overloading, 10-12 = Extreme.</a:t>
            </a:r>
            <a:br/>
            <a:r>
              <a:t>Excessive occupant classification.</a:t>
            </a:r>
            <a:br/>
            <a:r>
              <a:t>Confidence range: 95-98%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0" y="2194560"/>
            <a:ext cx="27432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331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</a:defRPr>
            </a:pPr>
            <a:r>
              <a:t>Seatbelt Violation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9748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 driver without seatbelt.</a:t>
            </a:r>
            <a:br/>
            <a:r>
              <a:t>Auto-rickshaw FP filter by size.</a:t>
            </a:r>
            <a:br/>
            <a:r>
              <a:t>Confidence range: 30-60%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389120"/>
            <a:ext cx="2743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</a:defRPr>
            </a:pPr>
            <a:r>
              <a:t>Wrong-Side Driving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on wrong road side.</a:t>
            </a:r>
            <a:br/>
            <a:r>
              <a:t>Lane-angle analysis algorithm.</a:t>
            </a:r>
            <a:br/>
            <a:r>
              <a:t>Confidence range: 60-85%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91840" y="4389120"/>
            <a:ext cx="274320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Red-Light Violation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during red signal.</a:t>
            </a:r>
            <a:br/>
            <a:r>
              <a:t>Traffic light + stop line analysis.</a:t>
            </a:r>
            <a:br/>
            <a:r>
              <a:t>Confidence range: 70-90%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389120"/>
            <a:ext cx="2743200" cy="36576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CA3AF"/>
                </a:solidFill>
              </a:defRPr>
            </a:pPr>
            <a:r>
              <a:t>Stop-Line Violation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crossing designated stop line.</a:t>
            </a:r>
            <a:br/>
            <a:r>
              <a:t>Y-coordinate + bbox overlap check.</a:t>
            </a:r>
            <a:br/>
            <a:r>
              <a:t>Confidence range: 50-80%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389120"/>
            <a:ext cx="274320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44000" y="4389120"/>
            <a:ext cx="274320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4526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Illegal Parking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892040"/>
            <a:ext cx="2560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in restricted/no-parking zone.</a:t>
            </a:r>
            <a:br/>
            <a:r>
              <a:t>Spatial context + curb detection.</a:t>
            </a:r>
            <a:br/>
            <a:r>
              <a:t>Confidence: situational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Classification &amp; Confidence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Every detection is categorized, scored, and prioritized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predefined violation classes with automatic categorization.</a:t>
            </a:r>
            <a:br/>
            <a:r>
              <a:t>Scene-specific classifiers for each violation type.</a:t>
            </a:r>
            <a:br/>
            <a:r>
              <a:t>Multi-violation support per image.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Confidence Scoring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Numerical confidence (0-100%) per detection.</a:t>
            </a:r>
            <a:br/>
            <a:r>
              <a:t>Confidence bands: High (80%+), Medium (60-80%), Low (&lt;60%).</a:t>
            </a:r>
            <a:br/>
            <a:r>
              <a:t>Configurable per-violation thresholds.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Severity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Risk score computation from violation weights.</a:t>
            </a:r>
            <a:br/>
            <a:r>
              <a:t>Risk bands: LOW (0-25), MODERATE (26-50), HIGH (51-75), CRITICAL (76-100).</a:t>
            </a:r>
            <a:br/>
            <a:r>
              <a:t>Repeat-offender score multipliers.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Explainable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Natural-language reason for every violation.</a:t>
            </a:r>
            <a:br/>
            <a:r>
              <a:t>Confidence band &amp; reliability indicator.</a:t>
            </a:r>
            <a:br/>
            <a:r>
              <a:t>Human review status &amp; officer priority flag.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License Plate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OCR-based number plate detection and registration text extraction — WORKING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500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1.  Plate detection using YOLO-based region proposal on vehicles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2.  OCR engine (EasyOCR) extracts alphanumeric registration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63016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3.  ✅ Correctly reads full plate text from traffic images (e.g. KA01, AB, 1234 → "KA01AB1234")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0624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7024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4.  Confidence scoring for extracted plate text with visibility assessment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105156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5.  Enhancement pipeline for low-resolution, angled, or distant plates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5156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50408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  6.  Plate text used for vehicle identification &amp; repeat-offender lookup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286000"/>
            <a:ext cx="3474720" cy="10972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3774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OCR Success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974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</a:defRPr>
            </a:pPr>
            <a:r>
              <a:t>License plate text correctly</a:t>
            </a:r>
            <a:br/>
            <a:r>
              <a:t>identified from traffic camera</a:t>
            </a:r>
            <a:br/>
            <a:r>
              <a:t>images with fragment</a:t>
            </a:r>
            <a:br/>
            <a:r>
              <a:t>recombination.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Producing annotated images with violation metadata &amp; timestamps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Annotated Evidence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Numbered callout circles on each violating vehicle</a:t>
            </a:r>
            <a:br/>
            <a:r>
              <a:t>Colored halos matching vehicle type</a:t>
            </a:r>
            <a:br/>
            <a:r>
              <a:t>Violation legend panel</a:t>
            </a:r>
            <a:br/>
            <a:r>
              <a:t>Footer summary bar with violation counts</a:t>
            </a:r>
            <a:br/>
            <a:r>
              <a:t>Scene markers (stop lines, traffic lights)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Violation Metadata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78892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Timestamps and location data</a:t>
            </a:r>
            <a:br/>
            <a:r>
              <a:t>Vehicle type and instance IDs</a:t>
            </a:r>
            <a:br/>
            <a:r>
              <a:t>Confidence scores per violation</a:t>
            </a:r>
            <a:br/>
            <a:r>
              <a:t>Unique detection instance tracking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PDF Evidence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Vehicle column with instance IDs</a:t>
            </a:r>
            <a:br/>
            <a:r>
              <a:t>Violation type, confidence, vehicle info</a:t>
            </a:r>
            <a:br/>
            <a:r>
              <a:t>Professional table layout for records</a:t>
            </a:r>
            <a:br/>
            <a:r>
              <a:t>Printable format for officer 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Metadata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834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SQLite database records per violation</a:t>
            </a:r>
            <a:br/>
            <a:r>
              <a:t>Searchable by vehicle number, type, date</a:t>
            </a:r>
            <a:br/>
            <a:r>
              <a:t>Evidence path linking to annotated image</a:t>
            </a:r>
            <a:br/>
            <a:r>
              <a:t>Review status tracking (approved/rejected)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Analytics &amp;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Violation statistics, trends, searchable records, and repeat-offender tracking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Violation Statistics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KPIs: total images, detection rate, review rate</a:t>
            </a:r>
            <a:br/>
            <a:r>
              <a:t>Per-violation type breakdown</a:t>
            </a:r>
            <a:br/>
            <a:r>
              <a:t>Dashboard with 10 metric panels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Trend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Daily, monthly, hourly violation trends</a:t>
            </a:r>
            <a:br/>
            <a:r>
              <a:t>Type-wise distribution charts</a:t>
            </a:r>
            <a:br/>
            <a:r>
              <a:t>Forecast predictions for high-risk periods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94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Searchable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697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Filter by vehicle number, violation type, date, location</a:t>
            </a:r>
            <a:br/>
            <a:r>
              <a:t>Paginated results with evidence link</a:t>
            </a:r>
            <a:br/>
            <a:r>
              <a:t>Exportable violation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Repeat-Offender Tracking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Vehicle risk profiles with score &amp; status</a:t>
            </a:r>
            <a:br/>
            <a:r>
              <a:t>Watchlist for high-risk offenders</a:t>
            </a:r>
            <a:br/>
            <a:r>
              <a:t>History of prior violations &amp; severities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Hotspot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Location-based violation clustering</a:t>
            </a:r>
            <a:br/>
            <a:r>
              <a:t>Risk level per hotspot (LOW to CRITICAL)</a:t>
            </a:r>
            <a:br/>
            <a:r>
              <a:t>Resource deployment recommendations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4480560"/>
            <a:ext cx="3566160" cy="201168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4572000"/>
            <a:ext cx="33832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83880" y="4617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Officer Workflow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80" y="498348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Manual review queue for low-confidence detections</a:t>
            </a:r>
            <a:br/>
            <a:r>
              <a:t>Approve/Reject workflow</a:t>
            </a:r>
            <a:br/>
            <a:r>
              <a:t>Officer priority flags (URGENT/HIGH/MEDIUM/LOW)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End-to-End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Image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Traffic camera input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Enhancement &amp; normalization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Detection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YOLO / OwlViT / Gradio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5468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2644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Classification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7 types + confidence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License Plate 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Number plate recognition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402336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133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069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389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Annotated images &amp; PDF reports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Analytics Engine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Statistics &amp; repeat-offender tracking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89204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50017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49377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Human 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257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Approve / Reject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Search &amp; Records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Filterable violation database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5760720"/>
            <a:ext cx="5394960" cy="6858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58704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392B"/>
                </a:solidFill>
              </a:defRPr>
            </a:pPr>
            <a: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5806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Officer Action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Decision support output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No Helmet Detection [BETA]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7cc73ba054bb4442b8bab1dee9062488_HELMET_MISSING_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111de67bf97942119d771a6b0889c710_HELMET_MISSING_001_evidence_20260621_205423_49264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Motorcycle rider without helmet.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87% | Risk: 30 |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Triple Riding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comparison_64c21bfad2dd4c4cace59ded58ce0f4a_TRIPLE_RIDING_0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TRIPLE_RIDING_001_evidence_20260621_095629_40424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3 riders on one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89% | Risk: 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Motorcycle Overloading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f50403f3cf37417ebafa19009b6e30a5_OVERLOADING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f50403f3cf37417ebafa19009b6e30a5_OVERLOADING_001_evidence_20260621_205351_7151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4+ occupants on motorcycle.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95% | Risk: 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Violation Showcase: Wrong-Side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Input Image → AI Analysis with annotated evidence</a:t>
            </a:r>
          </a:p>
        </p:txBody>
      </p:sp>
      <p:pic>
        <p:nvPicPr>
          <p:cNvPr id="6" name="Picture 5" descr="cd74d4c7b66441b4a8c8e405f9b6a4da_HELMET_MISSING_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4560"/>
            <a:ext cx="530352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C0392B"/>
                </a:solidFill>
              </a:defRPr>
            </a:pPr>
            <a:r>
              <a:t>Input Image</a:t>
            </a:r>
          </a:p>
        </p:txBody>
      </p:sp>
      <p:pic>
        <p:nvPicPr>
          <p:cNvPr id="8" name="Picture 7" descr="HELMET_MISSING_002_evidence_20260620_202957_7185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94560"/>
            <a:ext cx="5303520" cy="40233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17920" y="6217920"/>
            <a:ext cx="1645920" cy="2743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>
                <a:solidFill>
                  <a:srgbClr val="34D399"/>
                </a:solidFill>
              </a:defRPr>
            </a:pPr>
            <a:r>
              <a:t>AI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286000"/>
            <a:ext cx="3474720" cy="12801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331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Vehicle on wrong road 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51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Confidence: 85% | Risk: 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657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Numbered callout circles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8862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Violation legend panel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41148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Vehicle instance IDs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434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Colored halos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5720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</a:defRPr>
            </a:pPr>
            <a:r>
              <a:t>• Confidence scores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Performance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Prototype metrics on test dataset (Accuracy, Precision, Recall)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Images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Vehicle Detection</a:t>
            </a:r>
            <a:br/>
            <a: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28600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4231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01752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OCR Success</a:t>
            </a:r>
            <a:br/>
            <a:r>
              <a:t>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Helmet Assessment</a:t>
            </a:r>
            <a:br/>
            <a:r>
              <a:t>Precision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87%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Violation Detection</a:t>
            </a:r>
            <a:br/>
            <a:r>
              <a:t>Recall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3931920"/>
            <a:ext cx="3291840" cy="13716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0690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4D399"/>
                </a:solidFill>
              </a:defRPr>
            </a:pPr>
            <a:r>
              <a:t>91%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6634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Human Review</a:t>
            </a:r>
            <a:br/>
            <a:r>
              <a:t>Flag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</a:defRPr>
            </a:pPr>
            <a:r>
              <a:t>YOLOv8s inference: ~700ms per image | Auto engine fallback ensures availability | Scalable via stateless API design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User Interface — Dashboard &amp;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Upload &amp; Analyze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Drop image, select detection engine,</a:t>
            </a:r>
            <a:br/>
            <a:r>
              <a:t>view side-by-side source vs evidence.</a:t>
            </a:r>
            <a:br/>
            <a:r>
              <a:t>Executive summary panel with KPIs.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8600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237744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23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Violation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83464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Type badge, confidence score, severity,</a:t>
            </a:r>
            <a:br/>
            <a:r>
              <a:t>priority, explainable AI reason, and</a:t>
            </a:r>
            <a:br/>
            <a:r>
              <a:t>enforcement recommendation per violation.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Validation &amp;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Approve/Reject workflow for flagged</a:t>
            </a:r>
            <a:br/>
            <a:r>
              <a:t>violations. Side-by-side image</a:t>
            </a:r>
            <a:br/>
            <a:r>
              <a:t>comparison with original upload.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480560"/>
            <a:ext cx="5394960" cy="192024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4572000"/>
            <a:ext cx="521208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6177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</a:defRPr>
            </a:pPr>
            <a:r>
              <a:t>Intelligence 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02920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Violation trends, hotspot heatmaps,</a:t>
            </a:r>
            <a:br/>
            <a:r>
              <a:t>repeat-offender profiles, watchlist,</a:t>
            </a:r>
            <a:br/>
            <a:r>
              <a:t>and predictive forecast charts.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Detection Engine — 4-Tier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Built-in YOLOv8 + zero-shot fallback engines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4D399"/>
                </a:solidFill>
              </a:defRPr>
            </a:pPr>
            <a:r>
              <a:t>YOLOv8 (Built-in)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Always available, no setup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Car, motorcycle, person, bus, truck, bicycle  |  COCO-trained, &lt;1s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6888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14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✓ Always Ready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7498079" y="315468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B82F6"/>
                </a:solidFill>
              </a:defRPr>
            </a:pPr>
            <a:r>
              <a:t>OwlViT HF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Serverless, needs HF token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31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Any object by name (zero-shot)  |  Fast cloud inference, no GPU needed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56616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611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</a:defRPr>
            </a:pPr>
            <a:r>
              <a:t>✓ Configurable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498079" y="425196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48056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78BFA"/>
                </a:solidFill>
              </a:defRPr>
            </a:pPr>
            <a:r>
              <a:t>OwlViT Local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80060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On-device offline inference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after model download  |  GPU acceleration supported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66344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A78BFA"/>
                </a:solidFill>
              </a:defRPr>
            </a:pPr>
            <a:r>
              <a:t>✓ Configurable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498079" y="5349240"/>
            <a:ext cx="274320" cy="182880"/>
          </a:xfrm>
          <a:prstGeom prst="down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5577840"/>
            <a:ext cx="5303520" cy="91440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623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Gradio Cloud GPU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978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</a:defRPr>
            </a:pPr>
            <a:r>
              <a:t>NVIDIA HF 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264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CA3AF"/>
                </a:solidFill>
              </a:defRPr>
            </a:pPr>
            <a:r>
              <a:t>Zero-shot via cloud GPU  |  Fallback if GPU quota allows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60720"/>
            <a:ext cx="2286000" cy="3657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5806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⚠️ Best Effort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Scalability &amp;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Designed for varying conditions, traffic densities, and deployment scales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Environmental Robustness: Preprocessing pipeline handles low light, rain, haze, shadows, motion blur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90672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63824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Traffic Density Adaptation: Confidence thresholds adjust automatically; crowded-scene flag for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03904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6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Detection Fallback: 4 engines with automatic fallback — if one fails, the next takes 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17136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902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Image Quality Assessment: Quality score (Good/Fair/Poor) gates downstream processing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30368"/>
            <a:ext cx="10515600" cy="59436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03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Stateless API Design: No session state — horizontally scalable across servers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43600"/>
            <a:ext cx="10515600" cy="59436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016752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  ►  Configurable Thresholds: Per-violation confidence thresholds tunable without code changes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Expected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</a:defRPr>
            </a:pPr>
            <a:r>
              <a:t>A scalable AI-based traffic image analysis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Automated 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591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Traffic images are automatically analyzed without manual intervention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535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Violation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9535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7 violation types detected, classified, and scored with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7472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47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Evidence Documentation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54787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Annotated images + PDF reports with full violation metadata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6908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4223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Reduced Manual Effort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14223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AI pre-screening flags only low-confidence cases for human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73659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Improved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73659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Standardized violation classification and severity scoring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3200400" cy="502920"/>
          </a:xfrm>
          <a:prstGeom prst="roundRect">
            <a:avLst/>
          </a:prstGeom>
          <a:solidFill>
            <a:srgbClr val="1A2040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309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Actionable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33095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Trends, hotspots, repeat-offender tracking for informed enforcement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852160"/>
            <a:ext cx="3200400" cy="502920"/>
          </a:xfrm>
          <a:prstGeom prst="roundRect">
            <a:avLst/>
          </a:prstGeom>
          <a:solidFill>
            <a:srgbClr val="0D1225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92531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Scalable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925312"/>
            <a:ext cx="7589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</a:defRPr>
            </a:pPr>
            <a:r>
              <a:t>Serverless API design ready for integration with existing camera infrastructure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C0392B"/>
                </a:solidFill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2926080"/>
            <a:ext cx="2103120" cy="548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Automated Photo Identification and Classification</a:t>
            </a:r>
            <a:br/>
            <a:r>
              <a:t>for Traffic Violations Using Computer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TRINETRA AI  |  v3.0.0  |  AI-Powered Traffic Enforcement Intelligence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5943600"/>
            <a:ext cx="393192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