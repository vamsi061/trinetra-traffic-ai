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2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600" b="1">
                <a:solidFill>
                  <a:srgbClr val="C0392B"/>
                </a:solidFill>
              </a:defRPr>
            </a:pPr>
            <a:r>
              <a:t>TRINETRA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0">
                <a:solidFill>
                  <a:srgbClr val="FFFFFF"/>
                </a:solidFill>
              </a:defRPr>
            </a:pPr>
            <a:r>
              <a:t>Transforming Traffic Images into Actionable Enforcement Intelligence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474720"/>
            <a:ext cx="2743200" cy="5486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9CA3AF"/>
                </a:solidFill>
              </a:defRPr>
            </a:pPr>
            <a:r>
              <a:t>AI-Powered Traffic Enforcement Intelligence Platform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5720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CA3AF"/>
                </a:solidFill>
              </a:defRPr>
            </a:pPr>
            <a:r>
              <a:t>Bengaluru Traffic Police  |  v3.0.0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0" y="5943600"/>
            <a:ext cx="2743200" cy="36576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2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194560"/>
            <a:ext cx="10058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9CA3AF"/>
                </a:solidFill>
              </a:defRPr>
            </a:pPr>
            <a:r>
              <a:t>Bengaluru — millions of daily commuters, complex urban road network</a:t>
            </a:r>
          </a:p>
          <a:p>
            <a:pPr>
              <a:spcAft>
                <a:spcPts val="400"/>
              </a:spcAft>
              <a:defRPr sz="1600">
                <a:solidFill>
                  <a:srgbClr val="9CA3AF"/>
                </a:solidFill>
              </a:defRPr>
            </a:pPr>
            <a:r>
              <a:t>Traffic personnel manually inspect thousands of CCTV images and video feeds</a:t>
            </a:r>
          </a:p>
          <a:p>
            <a:pPr>
              <a:spcAft>
                <a:spcPts val="400"/>
              </a:spcAft>
              <a:defRPr sz="1600">
                <a:solidFill>
                  <a:srgbClr val="9CA3AF"/>
                </a:solidFill>
              </a:defRPr>
            </a:pPr>
            <a:r>
              <a:t>Violations must be identified, assessed, and prioritized — manually</a:t>
            </a:r>
          </a:p>
          <a:p>
            <a:pPr>
              <a:spcAft>
                <a:spcPts val="400"/>
              </a:spcAft>
              <a:defRPr sz="1600">
                <a:solidFill>
                  <a:srgbClr val="9CA3AF"/>
                </a:solidFill>
              </a:defRPr>
            </a:pPr>
            <a:r>
              <a:t>This process is: time-consuming, resource-intensive, difficult to scale</a:t>
            </a:r>
          </a:p>
          <a:p>
            <a:pPr>
              <a:spcAft>
                <a:spcPts val="400"/>
              </a:spcAft>
              <a:defRPr sz="1600">
                <a:solidFill>
                  <a:srgbClr val="9CA3AF"/>
                </a:solidFill>
              </a:defRPr>
            </a:pPr>
            <a:r>
              <a:t>Manual monitoring alone cannot provide smart-city responsiveness</a:t>
            </a:r>
          </a:p>
          <a:p>
            <a:pPr>
              <a:spcAft>
                <a:spcPts val="400"/>
              </a:spcAft>
              <a:defRPr sz="1600">
                <a:solidFill>
                  <a:srgbClr val="9CA3AF"/>
                </a:solidFill>
              </a:defRPr>
            </a:pPr>
            <a:r>
              <a:t>As traffic volume grows, the gap between capacity and demand widens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2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Our Vision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1945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</a:defRPr>
            </a:pPr>
            <a:r>
              <a:t>What if every traffic image could become an actionable intelligence report?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08960"/>
            <a:ext cx="10058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9CA3AF"/>
                </a:solidFill>
              </a:defRPr>
            </a:pPr>
            <a:r>
              <a:t>Instead of merely detecting vehicles, we envisioned a system capable of:</a:t>
            </a:r>
          </a:p>
          <a:p>
            <a:pPr>
              <a:spcAft>
                <a:spcPts val="400"/>
              </a:spcAft>
              <a:defRPr sz="1600">
                <a:solidFill>
                  <a:srgbClr val="9CA3AF"/>
                </a:solidFill>
              </a:defRPr>
            </a:pPr>
            <a:r>
              <a:t>  </a:t>
            </a:r>
          </a:p>
          <a:p>
            <a:pPr>
              <a:spcAft>
                <a:spcPts val="400"/>
              </a:spcAft>
              <a:defRPr sz="1600">
                <a:solidFill>
                  <a:srgbClr val="9CA3AF"/>
                </a:solidFill>
              </a:defRPr>
            </a:pPr>
            <a:r>
              <a:t>  - Understanding traffic scenes and identifying potential risks</a:t>
            </a:r>
          </a:p>
          <a:p>
            <a:pPr>
              <a:spcAft>
                <a:spcPts val="400"/>
              </a:spcAft>
              <a:defRPr sz="1600">
                <a:solidFill>
                  <a:srgbClr val="9CA3AF"/>
                </a:solidFill>
              </a:defRPr>
            </a:pPr>
            <a:r>
              <a:t>  - Generating annotated evidence with confidence scores</a:t>
            </a:r>
          </a:p>
          <a:p>
            <a:pPr>
              <a:spcAft>
                <a:spcPts val="400"/>
              </a:spcAft>
              <a:defRPr sz="1600">
                <a:solidFill>
                  <a:srgbClr val="9CA3AF"/>
                </a:solidFill>
              </a:defRPr>
            </a:pPr>
            <a:r>
              <a:t>  - Prioritizing cases by severity and repeat-offender history</a:t>
            </a:r>
          </a:p>
          <a:p>
            <a:pPr>
              <a:spcAft>
                <a:spcPts val="400"/>
              </a:spcAft>
              <a:defRPr sz="1600">
                <a:solidFill>
                  <a:srgbClr val="9CA3AF"/>
                </a:solidFill>
              </a:defRPr>
            </a:pPr>
            <a:r>
              <a:t>  - Supporting informed officer decisions with explainable AI</a:t>
            </a:r>
          </a:p>
          <a:p>
            <a:pPr>
              <a:spcAft>
                <a:spcPts val="400"/>
              </a:spcAft>
              <a:defRPr sz="1600">
                <a:solidFill>
                  <a:srgbClr val="9CA3AF"/>
                </a:solidFill>
              </a:defRPr>
            </a:pPr>
            <a:r>
              <a:t>  </a:t>
            </a:r>
          </a:p>
          <a:p>
            <a:pPr>
              <a:spcAft>
                <a:spcPts val="400"/>
              </a:spcAft>
              <a:defRPr sz="1600">
                <a:solidFill>
                  <a:srgbClr val="9CA3AF"/>
                </a:solidFill>
              </a:defRPr>
            </a:pPr>
            <a:r>
              <a:t>This vision led to TRINETRA AI — built specifically for Bengaluru Traffic Police.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2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What is TRINETRA AI?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9CA3AF"/>
                </a:solidFill>
              </a:defRPr>
            </a:pPr>
            <a:r>
              <a:t>An AI-powered Traffic Enforcement Intelligence Platform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194560"/>
            <a:ext cx="5303520" cy="118872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860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</a:defRPr>
            </a:pPr>
            <a:r>
              <a:t>Computer Vision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51760"/>
            <a:ext cx="4937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A3AF"/>
                </a:solidFill>
              </a:defRPr>
            </a:pPr>
            <a:r>
              <a:t>YOLOv8s: vehicle, motorcycle, person, bus, truck detection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2194560"/>
            <a:ext cx="5303520" cy="118872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22860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</a:defRPr>
            </a:pPr>
            <a:r>
              <a:t>Explainable 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651760"/>
            <a:ext cx="4937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A3AF"/>
                </a:solidFill>
              </a:defRPr>
            </a:pPr>
            <a:r>
              <a:t>Every detection: confidence, reliability, reason, recommendation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66160"/>
            <a:ext cx="5303520" cy="118872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6576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</a:defRPr>
            </a:pPr>
            <a:r>
              <a:t>Risk Assessment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023360"/>
            <a:ext cx="4937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A3AF"/>
                </a:solidFill>
              </a:defRPr>
            </a:pPr>
            <a:r>
              <a:t>Severity scoring, officer priority, repeat-offender multipliers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3566160"/>
            <a:ext cx="5303520" cy="118872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0" y="36576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</a:defRPr>
            </a:pPr>
            <a:r>
              <a:t>Evidence Generation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4023360"/>
            <a:ext cx="4937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A3AF"/>
                </a:solidFill>
              </a:defRPr>
            </a:pPr>
            <a:r>
              <a:t>Annotated images + downloadable PDF evidence packages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937760"/>
            <a:ext cx="5303520" cy="118872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0292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</a:defRPr>
            </a:pPr>
            <a:r>
              <a:t>Human Review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394960"/>
            <a:ext cx="4937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A3AF"/>
                </a:solidFill>
              </a:defRPr>
            </a:pPr>
            <a:r>
              <a:t>3-stage: auto-confirmed / review recommended / manual verification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0" y="4937760"/>
            <a:ext cx="5303520" cy="118872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0" y="50292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</a:defRPr>
            </a:pPr>
            <a:r>
              <a:t>Traffic Intelligence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5394960"/>
            <a:ext cx="4937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A3AF"/>
                </a:solidFill>
              </a:defRPr>
            </a:pPr>
            <a:r>
              <a:t>Hotspots, repeat offenders, trends, forecasts, watchlist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2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How It Works — Processing Pipeline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011680"/>
            <a:ext cx="5394960" cy="68580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12140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0392B"/>
                </a:solidFill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0574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Traffic Camera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</a:defRPr>
            </a:pPr>
            <a:r>
              <a:t>Image Capture</a:t>
            </a:r>
          </a:p>
        </p:txBody>
      </p:sp>
      <p:sp>
        <p:nvSpPr>
          <p:cNvPr id="9" name="Down Arrow 8"/>
          <p:cNvSpPr/>
          <p:nvPr/>
        </p:nvSpPr>
        <p:spPr>
          <a:xfrm>
            <a:off x="3108960" y="2697480"/>
            <a:ext cx="274320" cy="182880"/>
          </a:xfrm>
          <a:prstGeom prst="downArrow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09360" y="2011680"/>
            <a:ext cx="5394960" cy="68580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212140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0392B"/>
                </a:solidFill>
              </a:defRPr>
            </a:pPr>
            <a: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20574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Image Quality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23774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</a:defRPr>
            </a:pPr>
            <a:r>
              <a:t>Assessment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880360"/>
            <a:ext cx="5394960" cy="68580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99008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0392B"/>
                </a:solidFill>
              </a:defRPr>
            </a:pPr>
            <a: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29260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Vision Engine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3246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</a:defRPr>
            </a:pPr>
            <a:r>
              <a:t>Detection &amp; Analysis</a:t>
            </a:r>
          </a:p>
        </p:txBody>
      </p:sp>
      <p:sp>
        <p:nvSpPr>
          <p:cNvPr id="18" name="Down Arrow 17"/>
          <p:cNvSpPr/>
          <p:nvPr/>
        </p:nvSpPr>
        <p:spPr>
          <a:xfrm>
            <a:off x="3108960" y="3566160"/>
            <a:ext cx="274320" cy="182880"/>
          </a:xfrm>
          <a:prstGeom prst="downArrow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309360" y="2880360"/>
            <a:ext cx="5394960" cy="68580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299008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0392B"/>
                </a:solidFill>
              </a:defRPr>
            </a:pPr>
            <a: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29260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Violation Detection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3246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</a:defRPr>
            </a:pPr>
            <a:r>
              <a:t>Helmet, Overloading, Parking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749040"/>
            <a:ext cx="5394960" cy="68580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385876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0392B"/>
                </a:solidFill>
              </a:defRPr>
            </a:pPr>
            <a: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" y="37947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OCR Engine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" y="41148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</a:defRPr>
            </a:pPr>
            <a:r>
              <a:t>License Plate Recognition</a:t>
            </a:r>
          </a:p>
        </p:txBody>
      </p:sp>
      <p:sp>
        <p:nvSpPr>
          <p:cNvPr id="27" name="Down Arrow 26"/>
          <p:cNvSpPr/>
          <p:nvPr/>
        </p:nvSpPr>
        <p:spPr>
          <a:xfrm>
            <a:off x="3108960" y="4434840"/>
            <a:ext cx="274320" cy="182880"/>
          </a:xfrm>
          <a:prstGeom prst="downArrow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309360" y="3749040"/>
            <a:ext cx="5394960" cy="68580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46520" y="385876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0392B"/>
                </a:solidFill>
              </a:defRPr>
            </a:pPr>
            <a:r>
              <a:t>06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0" y="37947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Evidence Generator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0" y="41148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</a:defRPr>
            </a:pPr>
            <a:r>
              <a:t>Images + PDF Report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4617720"/>
            <a:ext cx="5394960" cy="68580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472744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0392B"/>
                </a:solidFill>
              </a:defRPr>
            </a:pPr>
            <a:r>
              <a:t>07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7280" y="46634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Risk Assessment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" y="49834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</a:defRPr>
            </a:pPr>
            <a:r>
              <a:t>Severity + Priority</a:t>
            </a:r>
          </a:p>
        </p:txBody>
      </p:sp>
      <p:sp>
        <p:nvSpPr>
          <p:cNvPr id="36" name="Down Arrow 35"/>
          <p:cNvSpPr/>
          <p:nvPr/>
        </p:nvSpPr>
        <p:spPr>
          <a:xfrm>
            <a:off x="3108960" y="5303520"/>
            <a:ext cx="274320" cy="182880"/>
          </a:xfrm>
          <a:prstGeom prst="downArrow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309360" y="4617720"/>
            <a:ext cx="5394960" cy="68580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46520" y="472744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0392B"/>
                </a:solidFill>
              </a:defRPr>
            </a:pPr>
            <a:r>
              <a:t>08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0" y="46634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Human Review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58000" y="49834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</a:defRPr>
            </a:pPr>
            <a:r>
              <a:t>3-Stage Workflow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48640" y="5486400"/>
            <a:ext cx="5394960" cy="68580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559612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0392B"/>
                </a:solidFill>
              </a:defRPr>
            </a:pPr>
            <a:r>
              <a:t>09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" y="55321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Intel Center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97280" y="58521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</a:defRPr>
            </a:pPr>
            <a:r>
              <a:t>Dashboard &amp; Analytics</a:t>
            </a:r>
          </a:p>
        </p:txBody>
      </p:sp>
      <p:sp>
        <p:nvSpPr>
          <p:cNvPr id="45" name="Down Arrow 44"/>
          <p:cNvSpPr/>
          <p:nvPr/>
        </p:nvSpPr>
        <p:spPr>
          <a:xfrm>
            <a:off x="3108960" y="6172200"/>
            <a:ext cx="274320" cy="182880"/>
          </a:xfrm>
          <a:prstGeom prst="downArrow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6309360" y="5486400"/>
            <a:ext cx="5394960" cy="68580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46520" y="559612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0392B"/>
                </a:solidFill>
              </a:defRPr>
            </a:pPr>
            <a:r>
              <a:t>10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58000" y="55321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Officer Action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858000" y="58521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</a:defRPr>
            </a:pPr>
            <a:r>
              <a:t>Decision Support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2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TRINETRA AI In Action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10515600" cy="82296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9CA3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74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1. Upload Page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</a:defRPr>
            </a:pPr>
            <a:r>
              <a:t>Drag-drop image upload. Judge Mode toggle. TRINETRA branding.</a:t>
            </a:r>
            <a:br/>
            <a:r>
              <a:t>Callouts: "Image Upload" "AI Analysis" "Judge Demo Mode"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788920"/>
            <a:ext cx="10515600" cy="82296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9CA3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8346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2. Executive Summary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546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</a:defRPr>
            </a:pPr>
            <a:r>
              <a:t>Motorcycles, Pedestrians, Occupants, Image Quality, Violations, Helmet, Risk, Review, Reliability, Recommended Response.</a:t>
            </a:r>
            <a:br/>
            <a:r>
              <a:t>Callouts: "Explainable AI" "Risk Score" "Review Status"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749040"/>
            <a:ext cx="10515600" cy="82296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9CA3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7947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3. Violation Detail Card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114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</a:defRPr>
            </a:pPr>
            <a:r>
              <a:t>Violation type, Confidence badge, Priority badge, Reason (explainable), Recommended Response, Business Value.</a:t>
            </a:r>
            <a:br/>
            <a:r>
              <a:t>Callouts: "Confidence Band" "Officer Priority" "Explainable Reason"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709160"/>
            <a:ext cx="10515600" cy="82296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9CA3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7548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4. Traffic Intel Center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0749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</a:defRPr>
            </a:pPr>
            <a:r>
              <a:t>Executive summary, violation hotspots map, repeat offenders table, risk trends chart, enforcement forecasts.</a:t>
            </a:r>
            <a:br/>
            <a:r>
              <a:t>Callouts: "Hotspot Analytics" "Repeat Offenders" "Risk Trends"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669280"/>
            <a:ext cx="10515600" cy="82296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9CA3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7150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5. AI Copilot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60350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</a:defRPr>
            </a:pPr>
            <a:r>
              <a:t>Natural-language query: "Show high-risk areas for helmet violations this week." Returns intelligence summary.</a:t>
            </a:r>
            <a:br/>
            <a:r>
              <a:t>Callouts: "AI-Powered Query" "Traffic Intelligence"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2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System Validation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9CA3AF"/>
                </a:solidFill>
              </a:defRPr>
            </a:pPr>
            <a:r>
              <a:t>Prototype metrics based on test dataset of 30 traffic images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286000"/>
            <a:ext cx="3291840" cy="137160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468880"/>
            <a:ext cx="3291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34D399"/>
                </a:solidFill>
              </a:defRPr>
            </a:pPr>
            <a: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9CA3AF"/>
                </a:solidFill>
              </a:defRPr>
            </a:pPr>
            <a:r>
              <a:t>Images Tested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2286000"/>
            <a:ext cx="3291840" cy="137160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0" y="2468880"/>
            <a:ext cx="3291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34D399"/>
                </a:solidFill>
              </a:defRPr>
            </a:pPr>
            <a:r>
              <a:t>92%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310896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9CA3AF"/>
                </a:solidFill>
              </a:defRPr>
            </a:pPr>
            <a:r>
              <a:t>Vehicle Detection Rate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2286000"/>
            <a:ext cx="3291840" cy="137160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0" y="2468880"/>
            <a:ext cx="3291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34D399"/>
                </a:solidFill>
              </a:defRPr>
            </a:pPr>
            <a:r>
              <a:t>89%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310896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9CA3AF"/>
                </a:solidFill>
              </a:defRPr>
            </a:pPr>
            <a:r>
              <a:t>OCR Success Rate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931920"/>
            <a:ext cx="3291840" cy="137160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4114800"/>
            <a:ext cx="3291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34D399"/>
                </a:solidFill>
              </a:defRPr>
            </a:pPr>
            <a:r>
              <a:t>84%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75488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9CA3AF"/>
                </a:solidFill>
              </a:defRPr>
            </a:pPr>
            <a:r>
              <a:t>Helmet Assessment Rate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89120" y="3931920"/>
            <a:ext cx="3291840" cy="137160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89120" y="4114800"/>
            <a:ext cx="3291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34D399"/>
                </a:solidFill>
              </a:defRPr>
            </a:pPr>
            <a:r>
              <a:t>91%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0" y="475488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9CA3AF"/>
                </a:solidFill>
              </a:defRPr>
            </a:pPr>
            <a:r>
              <a:t>Human Review Triggered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0" y="3931920"/>
            <a:ext cx="3291840" cy="137160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0" y="4114800"/>
            <a:ext cx="3291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34D399"/>
                </a:solidFill>
              </a:defRPr>
            </a:pPr>
            <a:r>
              <a:t>87%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475488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9CA3AF"/>
                </a:solidFill>
              </a:defRPr>
            </a:pPr>
            <a:r>
              <a:t>Violation Detection Rate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5669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</a:defRPr>
            </a:pPr>
            <a:r>
              <a:t>Note: These are prototype validation metrics. Production metrics will improve with larger training datasets and deployment tuning.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2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Why TRINETRA AI?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9CA3AF"/>
                </a:solidFill>
              </a:defRPr>
            </a:pPr>
            <a:r>
              <a:t>Competitive Differentiation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3154680" cy="45720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874519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CA3AF"/>
                </a:solidFill>
              </a:defRPr>
            </a:pPr>
            <a:r>
              <a:t>Capability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0" y="1828800"/>
            <a:ext cx="2788920" cy="45720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06240" y="1874519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CA3AF"/>
                </a:solidFill>
              </a:defRPr>
            </a:pPr>
            <a:r>
              <a:t>Traditional CCTV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0" y="1828800"/>
            <a:ext cx="2697480" cy="45720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23760" y="1874519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CA3AF"/>
                </a:solidFill>
              </a:defRPr>
            </a:pPr>
            <a:r>
              <a:t>Basic Detector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058400" y="1828800"/>
            <a:ext cx="1783080" cy="45720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49840" y="1874519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C0392B"/>
                </a:solidFill>
              </a:defRPr>
            </a:pPr>
            <a:r>
              <a:t>TRINETRA AI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233172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CA3AF"/>
                </a:solidFill>
              </a:defRPr>
            </a:pPr>
            <a:r>
              <a:t>Vehicle Detection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6240" y="233172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CA3AF"/>
                </a:solidFill>
              </a:defRPr>
            </a:pPr>
            <a:r>
              <a:t>Manual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0" y="233172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CA3AF"/>
                </a:solidFill>
              </a:defRPr>
            </a:pPr>
            <a:r>
              <a:t>Yes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49840" y="23317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C0392B"/>
                </a:solidFill>
              </a:defRPr>
            </a:pPr>
            <a:r>
              <a:t>Yes + Multi-class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2724912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CA3AF"/>
                </a:solidFill>
              </a:defRPr>
            </a:pPr>
            <a:r>
              <a:t>License Plate OCR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06240" y="2724912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CA3AF"/>
                </a:solidFill>
              </a:defRPr>
            </a:pPr>
            <a:r>
              <a:t>Manual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724912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CA3AF"/>
                </a:solidFill>
              </a:defRPr>
            </a:pPr>
            <a:r>
              <a:t>Some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49840" y="272491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C0392B"/>
                </a:solidFill>
              </a:defRPr>
            </a:pPr>
            <a:r>
              <a:t>Yes + Visibility Score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3118104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CA3AF"/>
                </a:solidFill>
              </a:defRPr>
            </a:pPr>
            <a:r>
              <a:t>Explainable AI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06240" y="3118104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CA3AF"/>
                </a:solidFill>
              </a:defRPr>
            </a:pPr>
            <a:r>
              <a:t>No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23760" y="3118104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CA3AF"/>
                </a:solidFill>
              </a:defRPr>
            </a:pPr>
            <a:r>
              <a:t>No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49840" y="311810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C0392B"/>
                </a:solidFill>
              </a:defRPr>
            </a:pPr>
            <a:r>
              <a:t>Yes (Full)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3511296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CA3AF"/>
                </a:solidFill>
              </a:defRPr>
            </a:pPr>
            <a:r>
              <a:t>Human Review Workflow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06240" y="3511296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CA3AF"/>
                </a:solidFill>
              </a:defRPr>
            </a:pPr>
            <a:r>
              <a:t>No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23760" y="3511296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CA3AF"/>
                </a:solidFill>
              </a:defRPr>
            </a:pPr>
            <a:r>
              <a:t>No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49840" y="3511296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34D399"/>
                </a:solidFill>
              </a:defRPr>
            </a:pPr>
            <a:r>
              <a:t>3-Stage System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3904488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CA3AF"/>
                </a:solidFill>
              </a:defRPr>
            </a:pPr>
            <a:r>
              <a:t>Risk Scoring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06240" y="3904488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CA3AF"/>
                </a:solidFill>
              </a:defRPr>
            </a:pPr>
            <a:r>
              <a:t>Subjective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23760" y="3904488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CA3AF"/>
                </a:solidFill>
              </a:defRPr>
            </a:pPr>
            <a:r>
              <a:t>Basic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49840" y="390448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34D399"/>
                </a:solidFill>
              </a:defRPr>
            </a:pPr>
            <a:r>
              <a:t>Severity + Priority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" y="429768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CA3AF"/>
                </a:solidFill>
              </a:defRPr>
            </a:pPr>
            <a:r>
              <a:t>Hotspot Analytics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06240" y="429768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CA3AF"/>
                </a:solidFill>
              </a:defRPr>
            </a:pPr>
            <a:r>
              <a:t>Manual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23760" y="429768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CA3AF"/>
                </a:solidFill>
              </a:defRPr>
            </a:pPr>
            <a:r>
              <a:t>No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49840" y="42976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34D399"/>
                </a:solidFill>
              </a:defRPr>
            </a:pPr>
            <a:r>
              <a:t>Automated + Heatmap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" y="4690872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CA3AF"/>
                </a:solidFill>
              </a:defRPr>
            </a:pPr>
            <a:r>
              <a:t>Repeat Offender Tracking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06240" y="4690872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CA3AF"/>
                </a:solidFill>
              </a:defRPr>
            </a:pPr>
            <a:r>
              <a:t>Manual logs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23760" y="4690872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CA3AF"/>
                </a:solidFill>
              </a:defRPr>
            </a:pPr>
            <a:r>
              <a:t>No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49840" y="469087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34D399"/>
                </a:solidFill>
              </a:defRPr>
            </a:pPr>
            <a:r>
              <a:t>Watchlist + Risk Profile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2960" y="5084064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CA3AF"/>
                </a:solidFill>
              </a:defRPr>
            </a:pPr>
            <a:r>
              <a:t>Officer Prioritization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06240" y="5084064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CA3AF"/>
                </a:solidFill>
              </a:defRPr>
            </a:pPr>
            <a:r>
              <a:t>No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223760" y="5084064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CA3AF"/>
                </a:solidFill>
              </a:defRPr>
            </a:pPr>
            <a:r>
              <a:t>No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149840" y="508406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34D399"/>
                </a:solidFill>
              </a:defRPr>
            </a:pPr>
            <a:r>
              <a:t>URGENT / HIGH / MEDIUM / LOW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2960" y="5477256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CA3AF"/>
                </a:solidFill>
              </a:defRPr>
            </a:pPr>
            <a:r>
              <a:t>Evidence Package Export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06240" y="5477256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CA3AF"/>
                </a:solidFill>
              </a:defRPr>
            </a:pPr>
            <a:r>
              <a:t>Manual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223760" y="5477256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CA3AF"/>
                </a:solidFill>
              </a:defRPr>
            </a:pPr>
            <a:r>
              <a:t>No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149840" y="5477256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34D399"/>
                </a:solidFill>
              </a:defRPr>
            </a:pPr>
            <a:r>
              <a:t>PDF + Annotations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2960" y="5870448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CA3AF"/>
                </a:solidFill>
              </a:defRPr>
            </a:pPr>
            <a:r>
              <a:t>Traffic Intelligence Center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06240" y="5870448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CA3AF"/>
                </a:solidFill>
              </a:defRPr>
            </a:pPr>
            <a:r>
              <a:t>No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3760" y="5870448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CA3AF"/>
                </a:solidFill>
              </a:defRPr>
            </a:pPr>
            <a:r>
              <a:t>No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149840" y="587044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34D399"/>
                </a:solidFill>
              </a:defRPr>
            </a:pPr>
            <a:r>
              <a:t>Full Dashboard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2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Potential Impact for Bengaluru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5303520" cy="457200"/>
          </a:xfrm>
          <a:prstGeom prst="roundRect">
            <a:avLst/>
          </a:prstGeom>
          <a:solidFill>
            <a:srgbClr val="0D1225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0" y="2011680"/>
            <a:ext cx="5303520" cy="457200"/>
          </a:xfrm>
          <a:prstGeom prst="roundRect">
            <a:avLst/>
          </a:prstGeom>
          <a:solidFill>
            <a:srgbClr val="0D1225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05740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</a:defRPr>
            </a:pPr>
            <a:r>
              <a:t>Current Challenge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205740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</a:defRPr>
            </a:pPr>
            <a:r>
              <a:t>TRINETRA Impact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560320"/>
            <a:ext cx="5303520" cy="457200"/>
          </a:xfrm>
          <a:prstGeom prst="roundRect">
            <a:avLst/>
          </a:prstGeom>
          <a:solidFill>
            <a:srgbClr val="1A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17920" y="2560320"/>
            <a:ext cx="5303520" cy="457200"/>
          </a:xfrm>
          <a:prstGeom prst="roundRect">
            <a:avLst/>
          </a:prstGeom>
          <a:solidFill>
            <a:srgbClr val="1A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60604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CA3AF"/>
                </a:solidFill>
              </a:defRPr>
            </a:pPr>
            <a:r>
              <a:t>Manual monitoring of thousands of traffic images daily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260604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4D399"/>
                </a:solidFill>
              </a:defRPr>
            </a:pPr>
            <a:r>
              <a:t>AI-assisted pre-screening reduces manual review workload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108960"/>
            <a:ext cx="5303520" cy="457200"/>
          </a:xfrm>
          <a:prstGeom prst="roundRect">
            <a:avLst/>
          </a:prstGeom>
          <a:solidFill>
            <a:srgbClr val="0D12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217920" y="3108960"/>
            <a:ext cx="5303520" cy="457200"/>
          </a:xfrm>
          <a:prstGeom prst="roundRect">
            <a:avLst/>
          </a:prstGeom>
          <a:solidFill>
            <a:srgbClr val="0D12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1546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CA3AF"/>
                </a:solidFill>
              </a:defRPr>
            </a:pPr>
            <a:r>
              <a:t>Slow violation identification across officer shifts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31546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4D399"/>
                </a:solidFill>
              </a:defRPr>
            </a:pPr>
            <a:r>
              <a:t>Real-time detection with URGENT / HIGH priority flags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3657600"/>
            <a:ext cx="5303520" cy="457200"/>
          </a:xfrm>
          <a:prstGeom prst="roundRect">
            <a:avLst/>
          </a:prstGeom>
          <a:solidFill>
            <a:srgbClr val="1A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17920" y="3657600"/>
            <a:ext cx="5303520" cy="457200"/>
          </a:xfrm>
          <a:prstGeom prst="roundRect">
            <a:avLst/>
          </a:prstGeom>
          <a:solidFill>
            <a:srgbClr val="1A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70332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CA3AF"/>
                </a:solidFill>
              </a:defRPr>
            </a:pPr>
            <a:r>
              <a:t>Inconsistent enforcement prioritization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370332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4D399"/>
                </a:solidFill>
              </a:defRPr>
            </a:pPr>
            <a:r>
              <a:t>Standardized risk scoring and officer priority engine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4206240"/>
            <a:ext cx="5303520" cy="457200"/>
          </a:xfrm>
          <a:prstGeom prst="roundRect">
            <a:avLst/>
          </a:prstGeom>
          <a:solidFill>
            <a:srgbClr val="0D12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217920" y="4206240"/>
            <a:ext cx="5303520" cy="457200"/>
          </a:xfrm>
          <a:prstGeom prst="roundRect">
            <a:avLst/>
          </a:prstGeom>
          <a:solidFill>
            <a:srgbClr val="0D12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42519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CA3AF"/>
                </a:solidFill>
              </a:defRPr>
            </a:pPr>
            <a:r>
              <a:t>Paper-based evidence documentation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42519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4D399"/>
                </a:solidFill>
              </a:defRPr>
            </a:pPr>
            <a:r>
              <a:t>Automated PDF evidence packages with all case details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4754880"/>
            <a:ext cx="5303520" cy="457200"/>
          </a:xfrm>
          <a:prstGeom prst="roundRect">
            <a:avLst/>
          </a:prstGeom>
          <a:solidFill>
            <a:srgbClr val="1A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217920" y="4754880"/>
            <a:ext cx="5303520" cy="457200"/>
          </a:xfrm>
          <a:prstGeom prst="roundRect">
            <a:avLst/>
          </a:prstGeom>
          <a:solidFill>
            <a:srgbClr val="1A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480060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CA3AF"/>
                </a:solidFill>
              </a:defRPr>
            </a:pPr>
            <a:r>
              <a:t>No centralized violation intelligence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480060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4D399"/>
                </a:solidFill>
              </a:defRPr>
            </a:pPr>
            <a:r>
              <a:t>Traffic Intelligence Center with hotspots, trends, forecasts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" y="5303520"/>
            <a:ext cx="5303520" cy="457200"/>
          </a:xfrm>
          <a:prstGeom prst="roundRect">
            <a:avLst/>
          </a:prstGeom>
          <a:solidFill>
            <a:srgbClr val="0D12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217920" y="5303520"/>
            <a:ext cx="5303520" cy="457200"/>
          </a:xfrm>
          <a:prstGeom prst="roundRect">
            <a:avLst/>
          </a:prstGeom>
          <a:solidFill>
            <a:srgbClr val="0D12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534924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CA3AF"/>
                </a:solidFill>
              </a:defRPr>
            </a:pPr>
            <a:r>
              <a:t>Difficult to track repeat offenders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534924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4D399"/>
                </a:solidFill>
              </a:defRPr>
            </a:pPr>
            <a:r>
              <a:t>Vehicle Risk Profiles + Watchlist for targeted enforcement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1520" y="5852160"/>
            <a:ext cx="5303520" cy="457200"/>
          </a:xfrm>
          <a:prstGeom prst="roundRect">
            <a:avLst/>
          </a:prstGeom>
          <a:solidFill>
            <a:srgbClr val="1A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217920" y="5852160"/>
            <a:ext cx="5303520" cy="457200"/>
          </a:xfrm>
          <a:prstGeom prst="roundRect">
            <a:avLst/>
          </a:prstGeom>
          <a:solidFill>
            <a:srgbClr val="1A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60" y="58978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CA3AF"/>
                </a:solidFill>
              </a:defRPr>
            </a:pPr>
            <a:r>
              <a:t>Limited data for deployment decisions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09360" y="58978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4D399"/>
                </a:solidFill>
              </a:defRPr>
            </a:pPr>
            <a:r>
              <a:t>Analytics-driven hotspot awareness and resource planning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2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Officer Workflow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286000"/>
            <a:ext cx="1280160" cy="146304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37744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FFFFFF"/>
                </a:solidFill>
              </a:defRPr>
            </a:pPr>
            <a:r>
              <a:t>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834640"/>
            <a:ext cx="1280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</a:defRPr>
            </a:pPr>
            <a:r>
              <a:t>Traffic Camera</a:t>
            </a:r>
          </a:p>
        </p:txBody>
      </p:sp>
      <p:sp>
        <p:nvSpPr>
          <p:cNvPr id="8" name="Right Arrow 7"/>
          <p:cNvSpPr/>
          <p:nvPr/>
        </p:nvSpPr>
        <p:spPr>
          <a:xfrm>
            <a:off x="1737360" y="2834640"/>
            <a:ext cx="182880" cy="274320"/>
          </a:xfrm>
          <a:prstGeom prst="rightArrow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920240" y="2286000"/>
            <a:ext cx="1280160" cy="146304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920240" y="237744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FFFFFF"/>
                </a:solidFill>
              </a:defRPr>
            </a:pPr>
            <a:r>
              <a:t>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2834640"/>
            <a:ext cx="1280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</a:defRPr>
            </a:pPr>
            <a:r>
              <a:t>TRINETRA AI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200400" y="2834640"/>
            <a:ext cx="182880" cy="274320"/>
          </a:xfrm>
          <a:prstGeom prst="rightArrow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383280" y="2286000"/>
            <a:ext cx="1280160" cy="146304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83280" y="237744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FFFFFF"/>
                </a:solidFill>
              </a:defRPr>
            </a:pPr>
            <a:r>
              <a:t>⚠️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3280" y="2834640"/>
            <a:ext cx="1280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</a:defRPr>
            </a:pPr>
            <a:r>
              <a:t>Violation Detection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663440" y="2834640"/>
            <a:ext cx="182880" cy="274320"/>
          </a:xfrm>
          <a:prstGeom prst="rightArrow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846320" y="2286000"/>
            <a:ext cx="1280160" cy="146304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46320" y="237744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FFFFFF"/>
                </a:solidFill>
              </a:defRPr>
            </a:pPr>
            <a:r>
              <a:t>📊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46320" y="2834640"/>
            <a:ext cx="1280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</a:defRPr>
            </a:pPr>
            <a:r>
              <a:t>Risk Assessment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6126480" y="2834640"/>
            <a:ext cx="182880" cy="274320"/>
          </a:xfrm>
          <a:prstGeom prst="rightArrow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309360" y="2286000"/>
            <a:ext cx="1280160" cy="146304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37744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FFFFFF"/>
                </a:solidFill>
              </a:defRPr>
            </a:pPr>
            <a:r>
              <a:t>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2834640"/>
            <a:ext cx="1280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</a:defRPr>
            </a:pPr>
            <a:r>
              <a:t>Evidence Package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7589520" y="2834640"/>
            <a:ext cx="182880" cy="274320"/>
          </a:xfrm>
          <a:prstGeom prst="rightArrow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772400" y="2286000"/>
            <a:ext cx="1280160" cy="146304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0" y="237744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FFFFFF"/>
                </a:solidFill>
              </a:defRPr>
            </a:pPr>
            <a:r>
              <a:t>👁️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0" y="2834640"/>
            <a:ext cx="1280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</a:defRPr>
            </a:pPr>
            <a:r>
              <a:t>Human Review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9052560" y="2834640"/>
            <a:ext cx="182880" cy="274320"/>
          </a:xfrm>
          <a:prstGeom prst="rightArrow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235440" y="2286000"/>
            <a:ext cx="1280160" cy="146304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235440" y="237744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FFFFFF"/>
                </a:solidFill>
              </a:defRPr>
            </a:pPr>
            <a:r>
              <a:t>📈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2834640"/>
            <a:ext cx="1280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</a:defRPr>
            </a:pPr>
            <a:r>
              <a:t>Intel Center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10515600" y="2834640"/>
            <a:ext cx="182880" cy="274320"/>
          </a:xfrm>
          <a:prstGeom prst="rightArrow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0698480" y="2286000"/>
            <a:ext cx="1280160" cy="146304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698480" y="237744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FFFFFF"/>
                </a:solidFill>
              </a:defRPr>
            </a:pPr>
            <a:r>
              <a:t>👮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98480" y="2834640"/>
            <a:ext cx="1280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</a:defRPr>
            </a:pPr>
            <a:r>
              <a:t>Officer Action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" y="41148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CA3AF"/>
                </a:solidFill>
              </a:defRPr>
            </a:pPr>
            <a:r>
              <a:t>The officer workflow ensures that AI serves as a decision-support tool.</a:t>
            </a:r>
            <a:br/>
            <a:r>
              <a:t>Every violation detection is reviewed, prioritized, and packaged as evidence.</a:t>
            </a:r>
            <a:br/>
            <a:r>
              <a:t>The officer remains in control of all enforcement decisions.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2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How TRINETRA Fits Into Bengaluru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9CA3AF"/>
                </a:solidFill>
              </a:defRPr>
            </a:pPr>
            <a:r>
              <a:t>No replacement of current infrastructure required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286000"/>
            <a:ext cx="10515600" cy="36576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14400" y="2468880"/>
            <a:ext cx="10058400" cy="64008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560320"/>
            <a:ext cx="9692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</a:defRPr>
            </a:pPr>
            <a:r>
              <a:t>Existing CCTV Network — Leverages current camera infrastructure across Bengaluru</a:t>
            </a:r>
          </a:p>
        </p:txBody>
      </p:sp>
      <p:sp>
        <p:nvSpPr>
          <p:cNvPr id="9" name="Down Arrow 8"/>
          <p:cNvSpPr/>
          <p:nvPr/>
        </p:nvSpPr>
        <p:spPr>
          <a:xfrm>
            <a:off x="5852160" y="3108960"/>
            <a:ext cx="274320" cy="137160"/>
          </a:xfrm>
          <a:prstGeom prst="downArrow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14400" y="3246120"/>
            <a:ext cx="10058400" cy="64008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337560"/>
            <a:ext cx="9692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</a:defRPr>
            </a:pPr>
            <a:r>
              <a:t>TRINETRA AI Processing — Deployed as cloud/edge analytics layer over existing feeds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5852160" y="3886200"/>
            <a:ext cx="274320" cy="137160"/>
          </a:xfrm>
          <a:prstGeom prst="downArrow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14400" y="4023360"/>
            <a:ext cx="10058400" cy="64008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4114800"/>
            <a:ext cx="9692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</a:defRPr>
            </a:pPr>
            <a:r>
              <a:t>Traffic Police Dashboard — Accessible via web browser on existing desktops and tablets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5852160" y="4663440"/>
            <a:ext cx="274320" cy="137160"/>
          </a:xfrm>
          <a:prstGeom prst="downArrow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14400" y="4800600"/>
            <a:ext cx="10058400" cy="64008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892040"/>
            <a:ext cx="9692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</a:defRPr>
            </a:pPr>
            <a:r>
              <a:t>Officer Review — Officers review flagged cases through familiar workflow interfaces</a:t>
            </a:r>
          </a:p>
        </p:txBody>
      </p:sp>
      <p:sp>
        <p:nvSpPr>
          <p:cNvPr id="18" name="Down Arrow 17"/>
          <p:cNvSpPr/>
          <p:nvPr/>
        </p:nvSpPr>
        <p:spPr>
          <a:xfrm>
            <a:off x="5852160" y="5440680"/>
            <a:ext cx="274320" cy="137160"/>
          </a:xfrm>
          <a:prstGeom prst="downArrow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14400" y="5577840"/>
            <a:ext cx="10058400" cy="64008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" y="5669280"/>
            <a:ext cx="9692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</a:defRPr>
            </a:pPr>
            <a:r>
              <a:t>Future E-Challan Integration — API-first design enables connection to challan systems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2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Demo Walkthrough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9CA3AF"/>
                </a:solidFill>
              </a:defRPr>
            </a:pPr>
            <a:r>
              <a:t>End-to-end scenario: motorcycle with multiple occupants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</a:defRPr>
            </a:pPr>
            <a:r>
              <a:t>1. Camera captures motorcycle with multiple riders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450592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</a:defRPr>
            </a:pPr>
            <a:r>
              <a:t>2. TRINETRA detects motorcycle and estimates occupancy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88950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</a:defRPr>
            </a:pPr>
            <a:r>
              <a:t>3. Possible overloading identified (4-5 occupants)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328416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CA3AF"/>
                </a:solidFill>
              </a:defRPr>
            </a:pPr>
            <a:r>
              <a:t>4. OCR reads license plate (KA01AB1234 at 91% confidence)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76732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CA3AF"/>
                </a:solidFill>
              </a:defRPr>
            </a:pPr>
            <a:r>
              <a:t>5. Annotated evidence image generated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2062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CA3AF"/>
                </a:solidFill>
              </a:defRPr>
            </a:pPr>
            <a:r>
              <a:t>6. Risk score calculated: 75 (HIGH) with HIGH PRIORITY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645152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CA3AF"/>
                </a:solidFill>
              </a:defRPr>
            </a:pPr>
            <a:r>
              <a:t>7. Case flagged for human review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8406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CA3AF"/>
                </a:solidFill>
              </a:defRPr>
            </a:pPr>
            <a:r>
              <a:t>8. Officer recommendation: "Additional Evidence Suggested"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522976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CA3AF"/>
                </a:solidFill>
              </a:defRPr>
            </a:pPr>
            <a:r>
              <a:t>9. Evidence package generated for officer review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596188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CA3AF"/>
                </a:solidFill>
              </a:defRPr>
            </a:pPr>
            <a:r>
              <a:t>10. Vehicle added to repeat offender watchlist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2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Responsible AI &amp; Human Oversight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03120"/>
            <a:ext cx="5303520" cy="118872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9456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4D399"/>
                </a:solidFill>
              </a:defRPr>
            </a:pPr>
            <a:r>
              <a:t>Confidence Scoring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560320"/>
            <a:ext cx="4937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A3AF"/>
                </a:solidFill>
              </a:defRPr>
            </a:pPr>
            <a:r>
              <a:t>Every detection includes a numerical confidence value — no binary decisions.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2103120"/>
            <a:ext cx="5303520" cy="118872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219456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B82F6"/>
                </a:solidFill>
              </a:defRPr>
            </a:pPr>
            <a:r>
              <a:t>Reliability Assessment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560320"/>
            <a:ext cx="4937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A3AF"/>
                </a:solidFill>
              </a:defRPr>
            </a:pPr>
            <a:r>
              <a:t>High / Medium / Low / Limited based on crowding, clarity, and occlusion.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474720"/>
            <a:ext cx="5303520" cy="118872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56616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A78BFA"/>
                </a:solidFill>
              </a:defRPr>
            </a:pPr>
            <a:r>
              <a:t>Explainable Decisions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931920"/>
            <a:ext cx="4937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A3AF"/>
                </a:solidFill>
              </a:defRPr>
            </a:pPr>
            <a:r>
              <a:t>Every violation has a natural-language reason (confidence, occupancy, review status).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3474720"/>
            <a:ext cx="5303520" cy="118872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356616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59E0B"/>
                </a:solidFill>
              </a:defRPr>
            </a:pPr>
            <a:r>
              <a:t>Human 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3931920"/>
            <a:ext cx="4937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A3AF"/>
                </a:solidFill>
              </a:defRPr>
            </a:pPr>
            <a:r>
              <a:t>3-stage workflow: auto-confirmed, review recommended, manual verification required.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846320"/>
            <a:ext cx="5303520" cy="118872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93776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0392B"/>
                </a:solidFill>
              </a:defRPr>
            </a:pPr>
            <a:r>
              <a:t>No Automated Enforcement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303520"/>
            <a:ext cx="4937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A3AF"/>
                </a:solidFill>
              </a:defRPr>
            </a:pPr>
            <a:r>
              <a:t>AI is a decision-support tool, NOT an enforcement authority.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0" y="4846320"/>
            <a:ext cx="5303520" cy="118872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0" y="493776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</a:defRPr>
            </a:pPr>
            <a:r>
              <a:t>Officer Control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5303520"/>
            <a:ext cx="4937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A3AF"/>
                </a:solidFill>
              </a:defRPr>
            </a:pPr>
            <a:r>
              <a:t>All enforcement decisions remain under human control. AI recommends, officers decide.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2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System Architecture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2286000"/>
            <a:ext cx="1097280" cy="128016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233172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FFFFF"/>
                </a:solidFill>
              </a:defRPr>
            </a:pPr>
            <a:r>
              <a:t>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788920"/>
            <a:ext cx="1097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</a:defRPr>
            </a:pPr>
            <a:r>
              <a:t>Traffic</a:t>
            </a:r>
            <a:br/>
            <a:r>
              <a:t>Camera</a:t>
            </a:r>
          </a:p>
        </p:txBody>
      </p:sp>
      <p:sp>
        <p:nvSpPr>
          <p:cNvPr id="8" name="Right Arrow 7"/>
          <p:cNvSpPr/>
          <p:nvPr/>
        </p:nvSpPr>
        <p:spPr>
          <a:xfrm>
            <a:off x="1463040" y="2788920"/>
            <a:ext cx="182880" cy="228600"/>
          </a:xfrm>
          <a:prstGeom prst="rightArrow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645920" y="2286000"/>
            <a:ext cx="1097280" cy="128016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45920" y="233172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FFFFF"/>
                </a:solidFill>
              </a:defRPr>
            </a:pPr>
            <a:r>
              <a:t>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2788920"/>
            <a:ext cx="1097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</a:defRPr>
            </a:pPr>
            <a:r>
              <a:t>Image Quality</a:t>
            </a:r>
            <a:br/>
            <a:r>
              <a:t>Assessment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2743200" y="2788920"/>
            <a:ext cx="182880" cy="228600"/>
          </a:xfrm>
          <a:prstGeom prst="rightArrow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926080" y="2286000"/>
            <a:ext cx="1097280" cy="128016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26080" y="233172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FFFFF"/>
                </a:solidFill>
              </a:defRPr>
            </a:pPr>
            <a:r>
              <a:t>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2788920"/>
            <a:ext cx="1097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</a:defRPr>
            </a:pPr>
            <a:r>
              <a:t>Vision Engine</a:t>
            </a:r>
            <a:br/>
            <a:r>
              <a:t>(YOLOv8s)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023360" y="2788920"/>
            <a:ext cx="182880" cy="228600"/>
          </a:xfrm>
          <a:prstGeom prst="rightArrow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206240" y="2286000"/>
            <a:ext cx="1097280" cy="128016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06240" y="233172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FFFFF"/>
                </a:solidFill>
              </a:defRPr>
            </a:pPr>
            <a:r>
              <a:t>⚠️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06240" y="2788920"/>
            <a:ext cx="1097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</a:defRPr>
            </a:pPr>
            <a:r>
              <a:t>Violation</a:t>
            </a:r>
            <a:br/>
            <a:r>
              <a:t>Detection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5303520" y="2788920"/>
            <a:ext cx="182880" cy="228600"/>
          </a:xfrm>
          <a:prstGeom prst="rightArrow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486400" y="2286000"/>
            <a:ext cx="1097280" cy="128016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0" y="233172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FFFFF"/>
                </a:solidFill>
              </a:defRPr>
            </a:pPr>
            <a:r>
              <a:t>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0" y="2788920"/>
            <a:ext cx="1097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</a:defRPr>
            </a:pPr>
            <a:r>
              <a:t>OCR</a:t>
            </a:r>
            <a:br/>
            <a:r>
              <a:t>Engine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6583680" y="2788920"/>
            <a:ext cx="182880" cy="228600"/>
          </a:xfrm>
          <a:prstGeom prst="rightArrow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766560" y="2286000"/>
            <a:ext cx="1097280" cy="128016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66560" y="233172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FFFFF"/>
                </a:solidFill>
              </a:defRPr>
            </a:pPr>
            <a:r>
              <a:t>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66560" y="2788920"/>
            <a:ext cx="1097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</a:defRPr>
            </a:pPr>
            <a:r>
              <a:t>Evidence</a:t>
            </a:r>
            <a:br/>
            <a:r>
              <a:t>Generator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7863840" y="2788920"/>
            <a:ext cx="182880" cy="228600"/>
          </a:xfrm>
          <a:prstGeom prst="rightArrow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046720" y="2286000"/>
            <a:ext cx="1097280" cy="128016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46720" y="233172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FFFFF"/>
                </a:solidFill>
              </a:defRPr>
            </a:pPr>
            <a:r>
              <a:t>📊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2788920"/>
            <a:ext cx="1097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</a:defRPr>
            </a:pPr>
            <a:r>
              <a:t>Risk</a:t>
            </a:r>
            <a:br/>
            <a:r>
              <a:t>Assessment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9144000" y="2788920"/>
            <a:ext cx="182880" cy="228600"/>
          </a:xfrm>
          <a:prstGeom prst="rightArrow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326880" y="2286000"/>
            <a:ext cx="1097280" cy="128016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326880" y="233172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FFFFF"/>
                </a:solidFill>
              </a:defRPr>
            </a:pPr>
            <a:r>
              <a:t>👁️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26880" y="2788920"/>
            <a:ext cx="1097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</a:defRPr>
            </a:pPr>
            <a:r>
              <a:t>Human</a:t>
            </a:r>
            <a:br/>
            <a:r>
              <a:t>Review</a:t>
            </a:r>
          </a:p>
        </p:txBody>
      </p:sp>
      <p:sp>
        <p:nvSpPr>
          <p:cNvPr id="36" name="Right Arrow 35"/>
          <p:cNvSpPr/>
          <p:nvPr/>
        </p:nvSpPr>
        <p:spPr>
          <a:xfrm>
            <a:off x="10424160" y="2788920"/>
            <a:ext cx="182880" cy="228600"/>
          </a:xfrm>
          <a:prstGeom prst="rightArrow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0607040" y="2286000"/>
            <a:ext cx="1097280" cy="128016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607040" y="233172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FFFFF"/>
                </a:solidFill>
              </a:defRPr>
            </a:pPr>
            <a:r>
              <a:t>📈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607040" y="2788920"/>
            <a:ext cx="1097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</a:defRPr>
            </a:pPr>
            <a:r>
              <a:t>Intel</a:t>
            </a:r>
            <a:br/>
            <a:r>
              <a:t>Center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" y="39319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CA3AF"/>
                </a:solidFill>
              </a:defRPr>
            </a:pPr>
            <a:r>
              <a:t>Each stage produces outputs consumed by the next:</a:t>
            </a:r>
            <a:br/>
            <a:r>
              <a:t>Detection → Violation check → Evidence → Risk → Review → Dashboard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31520" y="4754880"/>
            <a:ext cx="2560320" cy="64008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2960" y="480060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34D399"/>
                </a:solidFill>
              </a:defRPr>
            </a:pPr>
            <a:r>
              <a:t>Edge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2960" y="507492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CA3AF"/>
                </a:solidFill>
              </a:defRPr>
            </a:pPr>
            <a:r>
              <a:t>Camera capture + quality filter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566160" y="4754880"/>
            <a:ext cx="2560320" cy="64008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57600" y="480060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34D399"/>
                </a:solidFill>
              </a:defRPr>
            </a:pPr>
            <a:r>
              <a:t>Processing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0" y="507492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CA3AF"/>
                </a:solidFill>
              </a:defRPr>
            </a:pPr>
            <a:r>
              <a:t>Detection, OCR, association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400800" y="4754880"/>
            <a:ext cx="2560320" cy="64008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92240" y="480060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34D399"/>
                </a:solidFill>
              </a:defRPr>
            </a:pPr>
            <a:r>
              <a:t>Analytics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92240" y="507492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CA3AF"/>
                </a:solidFill>
              </a:defRPr>
            </a:pPr>
            <a:r>
              <a:t>Risk, evidence, intelligence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235440" y="4754880"/>
            <a:ext cx="2560320" cy="64008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326880" y="480060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34D399"/>
                </a:solidFill>
              </a:defRPr>
            </a:pPr>
            <a:r>
              <a:t>Review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326880" y="507492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CA3AF"/>
                </a:solidFill>
              </a:defRPr>
            </a:pPr>
            <a:r>
              <a:t>Human verification workflow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2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Future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194560"/>
            <a:ext cx="10058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9CA3AF"/>
                </a:solidFill>
              </a:defRPr>
            </a:pPr>
            <a:r>
              <a:t>Live CCTV Streams — Real-time processing from existing camera feeds</a:t>
            </a:r>
          </a:p>
          <a:p>
            <a:pPr>
              <a:spcAft>
                <a:spcPts val="400"/>
              </a:spcAft>
              <a:defRPr sz="1600">
                <a:solidFill>
                  <a:srgbClr val="9CA3AF"/>
                </a:solidFill>
              </a:defRPr>
            </a:pPr>
            <a:r>
              <a:t>Edge AI Deployment — On-device inference at camera nodes for low latency</a:t>
            </a:r>
          </a:p>
          <a:p>
            <a:pPr>
              <a:spcAft>
                <a:spcPts val="400"/>
              </a:spcAft>
              <a:defRPr sz="1600">
                <a:solidFill>
                  <a:srgbClr val="9CA3AF"/>
                </a:solidFill>
              </a:defRPr>
            </a:pPr>
            <a:r>
              <a:t>Smart City Platform Integration — API-first design for municipal systems</a:t>
            </a:r>
          </a:p>
          <a:p>
            <a:pPr>
              <a:spcAft>
                <a:spcPts val="400"/>
              </a:spcAft>
              <a:defRPr sz="1600">
                <a:solidFill>
                  <a:srgbClr val="9CA3AF"/>
                </a:solidFill>
              </a:defRPr>
            </a:pPr>
            <a:r>
              <a:t>E-Challan Integration — Automated challan generation after officer approval</a:t>
            </a:r>
          </a:p>
          <a:p>
            <a:pPr>
              <a:spcAft>
                <a:spcPts val="400"/>
              </a:spcAft>
              <a:defRPr sz="1600">
                <a:solidFill>
                  <a:srgbClr val="9CA3AF"/>
                </a:solidFill>
              </a:defRPr>
            </a:pPr>
            <a:r>
              <a:t>Traffic Command Centers — Centralized monitoring with real-time dashboards</a:t>
            </a:r>
          </a:p>
          <a:p>
            <a:pPr>
              <a:spcAft>
                <a:spcPts val="400"/>
              </a:spcAft>
              <a:defRPr sz="1600">
                <a:solidFill>
                  <a:srgbClr val="9CA3AF"/>
                </a:solidFill>
              </a:defRPr>
            </a:pPr>
            <a:r>
              <a:t>Predictive Congestion Analytics — Forecasting high-risk periods and locations</a:t>
            </a:r>
          </a:p>
          <a:p>
            <a:pPr>
              <a:spcAft>
                <a:spcPts val="400"/>
              </a:spcAft>
              <a:defRPr sz="1600">
                <a:solidFill>
                  <a:srgbClr val="9CA3AF"/>
                </a:solidFill>
              </a:defRPr>
            </a:pPr>
            <a:r>
              <a:t>Multi-City Scale — Designed for deployment across Indian metropolitan cities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2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Expected Operational Benefits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103120"/>
            <a:ext cx="2560320" cy="182880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24028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Reduced Manual Monitoring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743200"/>
            <a:ext cx="2286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CA3AF"/>
                </a:solidFill>
              </a:defRPr>
            </a:pPr>
            <a:r>
              <a:t>AI pre-screening reduces image review workload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83280" y="2103120"/>
            <a:ext cx="2560320" cy="182880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20440" y="224028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Faster Violation ID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2743200"/>
            <a:ext cx="2286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CA3AF"/>
                </a:solidFill>
              </a:defRPr>
            </a:pPr>
            <a:r>
              <a:t>Real-time detection with URGENT priority flags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2103120"/>
            <a:ext cx="2560320" cy="182880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224028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Better Prioritization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2743200"/>
            <a:ext cx="2286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CA3AF"/>
                </a:solidFill>
              </a:defRPr>
            </a:pPr>
            <a:r>
              <a:t>Risk-based severity and repeat-offender scoring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52560" y="2103120"/>
            <a:ext cx="2560320" cy="182880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89720" y="224028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Hotspot Awareness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89720" y="2743200"/>
            <a:ext cx="2286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CA3AF"/>
                </a:solidFill>
              </a:defRPr>
            </a:pPr>
            <a:r>
              <a:t>Location-based targeting for enforcement campaigns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206240"/>
            <a:ext cx="2560320" cy="182880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3434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Repeat Offender Tracking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4846320"/>
            <a:ext cx="2286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CA3AF"/>
                </a:solidFill>
              </a:defRPr>
            </a:pPr>
            <a:r>
              <a:t>Vehicle risk profiles with watchlist alerts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383280" y="4206240"/>
            <a:ext cx="2560320" cy="182880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20440" y="43434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Evidence-Based Decisions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20440" y="4846320"/>
            <a:ext cx="2286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CA3AF"/>
                </a:solidFill>
              </a:defRPr>
            </a:pPr>
            <a:r>
              <a:t>Confidence scoring + human-review workflow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4206240"/>
            <a:ext cx="2560320" cy="182880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55080" y="43434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Scalable Architecture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4846320"/>
            <a:ext cx="2286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CA3AF"/>
                </a:solidFill>
              </a:defRPr>
            </a:pPr>
            <a:r>
              <a:t>Single image to city-wide deployment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2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Why TRINETRA AI?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FFFFFF"/>
                </a:solidFill>
              </a:defRPr>
            </a:pPr>
            <a:r>
              <a:t>TRINETRA AI is not merely a traffic violation detector.</a:t>
            </a:r>
            <a:br/>
            <a:r>
              <a:t>It is an AI-powered Traffic Enforcement Intelligence Platform.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017520"/>
            <a:ext cx="3291840" cy="45720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06324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</a:defRPr>
            </a:pPr>
            <a:r>
              <a:t>✓ Explainable AI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3017520"/>
            <a:ext cx="3291840" cy="45720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0" y="306324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</a:defRPr>
            </a:pPr>
            <a:r>
              <a:t>✓ Human Review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3017520"/>
            <a:ext cx="3291840" cy="45720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0" y="306324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</a:defRPr>
            </a:pPr>
            <a:r>
              <a:t>✓ Evidence Generation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611880"/>
            <a:ext cx="3291840" cy="45720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36576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</a:defRPr>
            </a:pPr>
            <a:r>
              <a:t>✓ Risk Assessment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9120" y="3611880"/>
            <a:ext cx="3291840" cy="45720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89120" y="36576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</a:defRPr>
            </a:pPr>
            <a:r>
              <a:t>✓ Repeat Offender Intelligence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3611880"/>
            <a:ext cx="3291840" cy="45720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0" y="36576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</a:defRPr>
            </a:pPr>
            <a:r>
              <a:t>✓ Hotspot Analytics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206240"/>
            <a:ext cx="3291840" cy="45720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25196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</a:defRPr>
            </a:pPr>
            <a:r>
              <a:t>✓ Officer Prioritization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89120" y="4206240"/>
            <a:ext cx="3291840" cy="45720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89120" y="425196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</a:defRPr>
            </a:pPr>
            <a:r>
              <a:t>✓ Smart City Readiness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6720" y="4206240"/>
            <a:ext cx="3291840" cy="45720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0" y="425196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</a:defRPr>
            </a:pPr>
            <a:r>
              <a:t>✓ OCR with Visibility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4937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9CA3AF"/>
                </a:solidFill>
              </a:defRPr>
            </a:pPr>
            <a:r>
              <a:t>Designed to support Bengaluru Traffic Police in building safer, smarter,</a:t>
            </a:r>
            <a:br/>
            <a:r>
              <a:t>and more efficient urban mobility systems.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0" y="5852160"/>
            <a:ext cx="3931920" cy="36576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603504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9CA3AF"/>
                </a:solidFill>
              </a:defRPr>
            </a:pPr>
            <a:r>
              <a:t>TRINETRA AI  |  v3.0.0  |  AI-Powered Traffic Enforcement Intelligence Platform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